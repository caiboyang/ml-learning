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9f06495e842f7" /><Relationship Type="http://schemas.openxmlformats.org/officeDocument/2006/relationships/extended-properties" Target="/docProps/app.xml" Id="R9e00b76bc1e84a4f" /><Relationship Type="http://schemas.openxmlformats.org/officeDocument/2006/relationships/officeDocument" Target="/ppt/presentation.xml" Id="R1a55e9a8e5ad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a73c5879b4e9c"/>
  </p:sldMasterIdLst>
  <p:notesMasterIdLst>
    <p:notesMasterId xmlns:r="http://schemas.openxmlformats.org/officeDocument/2006/relationships" r:id="Rb4124e4f86164b62"/>
  </p:notesMasterIdLst>
  <p:sldIdLst>
    <p:sldId xmlns:r="http://schemas.openxmlformats.org/officeDocument/2006/relationships" id="256" r:id="R3d597748300943f8"/>
    <p:sldId xmlns:r="http://schemas.openxmlformats.org/officeDocument/2006/relationships" id="257" r:id="R188ccdebec36448a"/>
    <p:sldId xmlns:r="http://schemas.openxmlformats.org/officeDocument/2006/relationships" id="258" r:id="R5fd31187b9d04c9d"/>
    <p:sldId xmlns:r="http://schemas.openxmlformats.org/officeDocument/2006/relationships" id="259" r:id="Rf9b154139bbb461c"/>
    <p:sldId xmlns:r="http://schemas.openxmlformats.org/officeDocument/2006/relationships" id="260" r:id="Rc7ff84e731664111"/>
    <p:sldId xmlns:r="http://schemas.openxmlformats.org/officeDocument/2006/relationships" id="261" r:id="R4a12a89b63484c18"/>
    <p:sldId xmlns:r="http://schemas.openxmlformats.org/officeDocument/2006/relationships" id="262" r:id="R641cea2d94404f1c"/>
    <p:sldId xmlns:r="http://schemas.openxmlformats.org/officeDocument/2006/relationships" id="263" r:id="Ra38872f93a764a42"/>
    <p:sldId xmlns:r="http://schemas.openxmlformats.org/officeDocument/2006/relationships" id="264" r:id="Rb834279bf79443d0"/>
    <p:sldId xmlns:r="http://schemas.openxmlformats.org/officeDocument/2006/relationships" id="265" r:id="R4354a9c354cc4a10"/>
    <p:sldId xmlns:r="http://schemas.openxmlformats.org/officeDocument/2006/relationships" id="266" r:id="R72631ec7030547b0"/>
    <p:sldId xmlns:r="http://schemas.openxmlformats.org/officeDocument/2006/relationships" id="267" r:id="R878aed3382da46d5"/>
    <p:sldId xmlns:r="http://schemas.openxmlformats.org/officeDocument/2006/relationships" id="268" r:id="R483c56f5aba54341"/>
    <p:sldId xmlns:r="http://schemas.openxmlformats.org/officeDocument/2006/relationships" id="269" r:id="R46b80fcf85a0478e"/>
    <p:sldId xmlns:r="http://schemas.openxmlformats.org/officeDocument/2006/relationships" id="270" r:id="Rf60994522dda4260"/>
    <p:sldId xmlns:r="http://schemas.openxmlformats.org/officeDocument/2006/relationships" id="271" r:id="R276560a0fd9646f6"/>
    <p:sldId xmlns:r="http://schemas.openxmlformats.org/officeDocument/2006/relationships" id="272" r:id="R78f8c345904e4175"/>
    <p:sldId xmlns:r="http://schemas.openxmlformats.org/officeDocument/2006/relationships" id="273" r:id="Reda19eb2f62946f2"/>
    <p:sldId xmlns:r="http://schemas.openxmlformats.org/officeDocument/2006/relationships" id="274" r:id="Re988f6bd62cb4e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16a97901d04fbb" /><Relationship Type="http://schemas.openxmlformats.org/officeDocument/2006/relationships/slideMaster" Target="/ppt/slideMasters/slideMaster1.xml" Id="R5c7a73c5879b4e9c" /><Relationship Type="http://schemas.openxmlformats.org/officeDocument/2006/relationships/notesMaster" Target="/ppt/notesMasters/notesMaster1.xml" Id="Rb4124e4f86164b62" /><Relationship Type="http://schemas.openxmlformats.org/officeDocument/2006/relationships/presProps" Target="/ppt/presProps.xml" Id="R81c1ba8e34fd404c" /><Relationship Type="http://schemas.openxmlformats.org/officeDocument/2006/relationships/tableStyles" Target="/ppt/tableStyles.xml" Id="Rbca41ff20402469d" /><Relationship Type="http://schemas.openxmlformats.org/officeDocument/2006/relationships/slide" Target="/ppt/slides/slide1.xml" Id="R3d597748300943f8" /><Relationship Type="http://schemas.openxmlformats.org/officeDocument/2006/relationships/slide" Target="/ppt/slides/slide2.xml" Id="R188ccdebec36448a" /><Relationship Type="http://schemas.openxmlformats.org/officeDocument/2006/relationships/slide" Target="/ppt/slides/slide3.xml" Id="R5fd31187b9d04c9d" /><Relationship Type="http://schemas.openxmlformats.org/officeDocument/2006/relationships/slide" Target="/ppt/slides/slide4.xml" Id="Rf9b154139bbb461c" /><Relationship Type="http://schemas.openxmlformats.org/officeDocument/2006/relationships/slide" Target="/ppt/slides/slide5.xml" Id="Rc7ff84e731664111" /><Relationship Type="http://schemas.openxmlformats.org/officeDocument/2006/relationships/slide" Target="/ppt/slides/slide6.xml" Id="R4a12a89b63484c18" /><Relationship Type="http://schemas.openxmlformats.org/officeDocument/2006/relationships/slide" Target="/ppt/slides/slide7.xml" Id="R641cea2d94404f1c" /><Relationship Type="http://schemas.openxmlformats.org/officeDocument/2006/relationships/slide" Target="/ppt/slides/slide8.xml" Id="Ra38872f93a764a42" /><Relationship Type="http://schemas.openxmlformats.org/officeDocument/2006/relationships/slide" Target="/ppt/slides/slide9.xml" Id="Rb834279bf79443d0" /><Relationship Type="http://schemas.openxmlformats.org/officeDocument/2006/relationships/slide" Target="/ppt/slides/slide10.xml" Id="R4354a9c354cc4a10" /><Relationship Type="http://schemas.openxmlformats.org/officeDocument/2006/relationships/slide" Target="/ppt/slides/slide11.xml" Id="R72631ec7030547b0" /><Relationship Type="http://schemas.openxmlformats.org/officeDocument/2006/relationships/slide" Target="/ppt/slides/slide12.xml" Id="R878aed3382da46d5" /><Relationship Type="http://schemas.openxmlformats.org/officeDocument/2006/relationships/slide" Target="/ppt/slides/slide13.xml" Id="R483c56f5aba54341" /><Relationship Type="http://schemas.openxmlformats.org/officeDocument/2006/relationships/slide" Target="/ppt/slides/slide14.xml" Id="R46b80fcf85a0478e" /><Relationship Type="http://schemas.openxmlformats.org/officeDocument/2006/relationships/slide" Target="/ppt/slides/slide15.xml" Id="Rf60994522dda4260" /><Relationship Type="http://schemas.openxmlformats.org/officeDocument/2006/relationships/slide" Target="/ppt/slides/slide16.xml" Id="R276560a0fd9646f6" /><Relationship Type="http://schemas.openxmlformats.org/officeDocument/2006/relationships/slide" Target="/ppt/slides/slide17.xml" Id="R78f8c345904e4175" /><Relationship Type="http://schemas.openxmlformats.org/officeDocument/2006/relationships/slide" Target="/ppt/slides/slide18.xml" Id="Reda19eb2f62946f2" /><Relationship Type="http://schemas.openxmlformats.org/officeDocument/2006/relationships/slide" Target="/ppt/slides/slide19.xml" Id="Re988f6bd62cb4e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a4b0653a7b48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d12101a894932" /><Relationship Type="http://schemas.openxmlformats.org/officeDocument/2006/relationships/notesMaster" Target="/ppt/notesMasters/notesMaster1.xml" Id="Rf180ef9de690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8795884b14023" /><Relationship Type="http://schemas.openxmlformats.org/officeDocument/2006/relationships/notesMaster" Target="/ppt/notesMasters/notesMaster1.xml" Id="Rb167124ce7224a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3ebfa128a4e1c" /><Relationship Type="http://schemas.openxmlformats.org/officeDocument/2006/relationships/notesMaster" Target="/ppt/notesMasters/notesMaster1.xml" Id="R8b1def8ca29f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94c6ba11b34f1c" /><Relationship Type="http://schemas.openxmlformats.org/officeDocument/2006/relationships/notesMaster" Target="/ppt/notesMasters/notesMaster1.xml" Id="R7138abe85e8d4a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eebf69d66446a0" /><Relationship Type="http://schemas.openxmlformats.org/officeDocument/2006/relationships/notesMaster" Target="/ppt/notesMasters/notesMaster1.xml" Id="Rc2fce0bda6714a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b1b211dc864361" /><Relationship Type="http://schemas.openxmlformats.org/officeDocument/2006/relationships/notesMaster" Target="/ppt/notesMasters/notesMaster1.xml" Id="R95fa377869dc4d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c9c5729ae64beb" /><Relationship Type="http://schemas.openxmlformats.org/officeDocument/2006/relationships/notesMaster" Target="/ppt/notesMasters/notesMaster1.xml" Id="R2c723ce9116245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f4a48594334438" /><Relationship Type="http://schemas.openxmlformats.org/officeDocument/2006/relationships/notesMaster" Target="/ppt/notesMasters/notesMaster1.xml" Id="Re291d645c5f9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7aad0ae894aba" /><Relationship Type="http://schemas.openxmlformats.org/officeDocument/2006/relationships/notesMaster" Target="/ppt/notesMasters/notesMaster1.xml" Id="R02d483b007674e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38f45fe0124cd6" /><Relationship Type="http://schemas.openxmlformats.org/officeDocument/2006/relationships/notesMaster" Target="/ppt/notesMasters/notesMaster1.xml" Id="Refa3cf9e20434f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9fd746a7c84e23" /><Relationship Type="http://schemas.openxmlformats.org/officeDocument/2006/relationships/notesMaster" Target="/ppt/notesMasters/notesMaster1.xml" Id="Rb9f59ff3dafe4c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fc90bc3c8744b6" /><Relationship Type="http://schemas.openxmlformats.org/officeDocument/2006/relationships/notesMaster" Target="/ppt/notesMasters/notesMaster1.xml" Id="R1e5f52b300eb48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f1db0da924486d" /><Relationship Type="http://schemas.openxmlformats.org/officeDocument/2006/relationships/notesMaster" Target="/ppt/notesMasters/notesMaster1.xml" Id="R2e49c80ec99c49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b25da0e4c64a32" /><Relationship Type="http://schemas.openxmlformats.org/officeDocument/2006/relationships/notesMaster" Target="/ppt/notesMasters/notesMaster1.xml" Id="R882851081f354f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e78e02ebc5472a" /><Relationship Type="http://schemas.openxmlformats.org/officeDocument/2006/relationships/notesMaster" Target="/ppt/notesMasters/notesMaster1.xml" Id="R684b7ca1ceac42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20b4794b594fc0" /><Relationship Type="http://schemas.openxmlformats.org/officeDocument/2006/relationships/notesMaster" Target="/ppt/notesMasters/notesMaster1.xml" Id="R4e1b305ce5114a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8d78f90e9f4f12" /><Relationship Type="http://schemas.openxmlformats.org/officeDocument/2006/relationships/notesMaster" Target="/ppt/notesMasters/notesMaster1.xml" Id="R6999131bee9f45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5d8bdae15b420f" /><Relationship Type="http://schemas.openxmlformats.org/officeDocument/2006/relationships/notesMaster" Target="/ppt/notesMasters/notesMaster1.xml" Id="R67ed6850250e46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e5db9db4c1435b" /><Relationship Type="http://schemas.openxmlformats.org/officeDocument/2006/relationships/notesMaster" Target="/ppt/notesMasters/notesMaster1.xml" Id="R129f09266a5546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开场先说明：这不是 API 参数大全，而是一套从协议到生产边界的实现指南。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https://anthropic.skilljar.com/claude-with-the-anthropic-api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先建立风险感：前 3 项会报错或静默截断，后 3 项是接口版本漂移。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https://platform.claude.com/docs/en/about-claude/models/migration-guide</a:t>
            </a:r>
          </a:p>
          <a:p xmlns:a="http://schemas.openxmlformats.org/drawingml/2006/main">
            <a:r>
              <a:t>- https://platform.claude.com/docs/en/agents-and-tools/tool-use/tool-reference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按课程的依赖关系讲，而不是按文档目录讲。强调前六课逐步拼成手写 loop。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https://anthropic.skilljar.com/claude-with-the-anthropic-api/287753</a:t>
            </a:r>
          </a:p>
          <a:p xmlns:a="http://schemas.openxmlformats.org/drawingml/2006/main">
            <a:r>
              <a:t>- https://anthropic.skilljar.com/claude-with-the-anthropic-api/287757</a:t>
            </a:r>
          </a:p>
          <a:p xmlns:a="http://schemas.openxmlformats.org/drawingml/2006/main">
            <a:r>
              <a:t>- https://anthropic.skilljar.com/claude-with-the-anthropic-api/287752</a:t>
            </a:r>
          </a:p>
          <a:p xmlns:a="http://schemas.openxmlformats.org/drawingml/2006/main">
            <a:r>
              <a:t>- https://anthropic.skilljar.com/claude-with-the-anthropic-api/287750</a:t>
            </a:r>
          </a:p>
          <a:p xmlns:a="http://schemas.openxmlformats.org/drawingml/2006/main">
            <a:r>
              <a:t>- https://anthropic.skilljar.com/claude-with-the-anthropic-api/287758</a:t>
            </a:r>
          </a:p>
          <a:p xmlns:a="http://schemas.openxmlformats.org/drawingml/2006/main">
            <a:r>
              <a:t>- https://anthropic.skilljar.com/claude-with-the-anthropic-api/287749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用三步模型消除误解：模型不替客户端执行工具，代码执行位置决定了责任边界。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description 不只是注释，而是模型的路由规则；复杂输入再用 examples，格式强约束再用 strict。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https://platform.claude.com/docs/en/agents-and-tools/tool-use/define-tools</a:t>
            </a:r>
          </a:p>
          <a:p xmlns:a="http://schemas.openxmlformats.org/drawingml/2006/main">
            <a:r>
              <a:t>- https://platform.claude.com/docs/en/agents-and-tools/tool-use/tool-reference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先把客户端工具和服务端工具分开。text editor 是容易误判的特例：schema 由 Anthropic 定义，执行责任仍在应用。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https://platform.claude.com/docs/en/agents-and-tools/tool-use/overview</a:t>
            </a:r>
          </a:p>
          <a:p xmlns:a="http://schemas.openxmlformats.org/drawingml/2006/main">
            <a:r>
              <a:t>- https://platform.claude.com/docs/en/agents-and-tools/tool-use/tool-reference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逐条走一遍 wire protocol：模型返回调用意图，应用执行，再带完整历史回填。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https://platform.claude.com/docs/en/agents-and-tools/tool-use/handle-tool-calls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这里是高频 bug：thinking、强制工具调用和并行调用都会让固定索引失效。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https://platform.claude.com/docs/en/agents-and-tools/tool-use/handle-tool-calls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 pause_turn 和 refusal：它们都可能让旧 loop 静默结束。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https://platform.claude.com/docs/en/build-with-claude/handling-stop-reasons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把格式规则和错误语义分开：结构不合法会 400；工具执行失败则用 is_error 让模型恢复。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https://platform.claude.com/docs/en/agents-and-tools/tool-use/handle-tool-calls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这是静默性能退化：结构能跑，但会影响模型后续是否继续并行。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https://platform.claude.com/docs/en/agents-and-tools/tool-use/parallel-tool-use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tool_choice 是 Messages API 请求级策略，不是工具 schema 字段。any/tool 只会移除 tool_use 之前的自然语言前言；回填结果后仍会生成最终文本。disable_parallel_tool_use 必须放在 tool_choice 对象内。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https://platform.claude.com/docs/en/agents-and-tools/tool-use/define-tools</a:t>
            </a:r>
          </a:p>
          <a:p xmlns:a="http://schemas.openxmlformats.org/drawingml/2006/main">
            <a:r>
              <a:t>- https://platform.claude.com/docs/en/agents-and-tools/tool-use/parallel-tool-use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strict 的边界说准确：它减少格式错误，不是授权系统或业务校验器。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https://platform.claude.com/docs/en/build-with-claude/structured-outputs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扩展工具集时不要靠无限堆 schema。先稳定前缀，再按需加载，再考虑 PTC。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https://platform.claude.com/docs/en/agents-and-tools/tool-use/tool-search-tool</a:t>
            </a:r>
          </a:p>
          <a:p xmlns:a="http://schemas.openxmlformats.org/drawingml/2006/main">
            <a:r>
              <a:t>- https://platform.claude.com/docs/en/agents-and-tools/tool-use/programmatic-tool-calling</a:t>
            </a:r>
          </a:p>
          <a:p xmlns:a="http://schemas.openxmlformats.org/drawingml/2006/main">
            <a:r>
              <a:t>- https://platform.claude.com/docs/en/build-with-claude/prompt-caching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不要只看日期大小判断升级。工具版本可能代表功能特征、模型兼容或并列算法。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https://platform.claude.com/docs/en/agents-and-tools/tool-use/tool-reference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Runner 是 SDK helper，不是 Agent SDK。两种路线都必须有最大迭代边界。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https://platform.claude.com/docs/en/agents-and-tools/tool-use/tool-runner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把工具输入和工具结果都当成不可信数据；真正的授权必须在工具函数或服务层。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https://platform.claude.com/docs/en/agents-and-tools/tool-use/programmatic-tool-calling</a:t>
            </a:r>
          </a:p>
          <a:p xmlns:a="http://schemas.openxmlformats.org/drawingml/2006/main">
            <a:r>
              <a:t>- https://platform.claude.com/docs/en/agents-and-tools/tool-use/overview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这是落地页：可以直接拿去对代码库做 grep / rg 自查。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https://platform.claude.com/docs/en/about-claude/models/migration-guide</a:t>
            </a:r>
          </a:p>
          <a:p xmlns:a="http://schemas.openxmlformats.org/drawingml/2006/main">
            <a:r>
              <a:t>- https://platform.claude.com/docs/en/agents-and-tools/tool-use/tool-reference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收束到五条工程纪律。让听众带走可执行判断，而不是记一堆字段。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https://github.com/caiboyang/ML-learning/blob/main/phase3_tool_usage/Tool_Use_Study_Notes.md</a:t>
            </a:r>
          </a:p>
          <a:p xmlns:a="http://schemas.openxmlformats.org/drawingml/2006/main">
            <a:r>
              <a:t>- https://platform.claude.com/docs/en/agents-and-tools/tool-use/overview</a:t>
            </a:r>
          </a:p>
          <a:p xmlns:a="http://schemas.openxmlformats.org/drawingml/2006/main">
            <a:r>
              <a:t>- https://platform.claude.com/docs/en/agents-and-tools/tool-use/handle-tool-calls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4052a31dc4d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c2f3b46ea4dd0" /><Relationship Type="http://schemas.openxmlformats.org/officeDocument/2006/relationships/slideLayout" Target="/ppt/slideLayouts/slideLayout1.xml" Id="R1d2d5a5d15b3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d5a5d15b3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bceb9c88e42c1" /><Relationship Type="http://schemas.openxmlformats.org/officeDocument/2006/relationships/hyperlink" Target="https://github.com/caiboyang/ML-learning/blob/main/phase3_tool_usage/Tool_Use_Study_Notes.md" TargetMode="External" Id="R5aa0e0e2c2af418e" /><Relationship Type="http://schemas.openxmlformats.org/officeDocument/2006/relationships/hyperlink" Target="https://anthropic.skilljar.com/claude-with-the-anthropic-api" TargetMode="External" Id="Re36e0e7b3b5141a1" /><Relationship Type="http://schemas.openxmlformats.org/officeDocument/2006/relationships/notesSlide" Target="/ppt/notesSlides/notesSlide1.xml" Id="R26a7e1c8325b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2c3573d3480d" /><Relationship Type="http://schemas.openxmlformats.org/officeDocument/2006/relationships/hyperlink" Target="https://github.com/caiboyang/ML-learning/blob/main/phase3_tool_usage/Tool_Use_Study_Notes.md" TargetMode="External" Id="Re741229d47524ede" /><Relationship Type="http://schemas.openxmlformats.org/officeDocument/2006/relationships/hyperlink" Target="https://platform.claude.com/docs/en/about-claude/models/migration-guide" TargetMode="External" Id="Rb6c3ba10f99d42e9" /><Relationship Type="http://schemas.openxmlformats.org/officeDocument/2006/relationships/hyperlink" Target="https://platform.claude.com/docs/en/agents-and-tools/tool-use/tool-reference" TargetMode="External" Id="R2f2537f74c5f4176" /><Relationship Type="http://schemas.openxmlformats.org/officeDocument/2006/relationships/notesSlide" Target="/ppt/notesSlides/notesSlide2.xml" Id="Rfc249a9c26c746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75ba058b54156" /><Relationship Type="http://schemas.openxmlformats.org/officeDocument/2006/relationships/hyperlink" Target="https://github.com/caiboyang/ML-learning/blob/main/phase3_tool_usage/Tool_Use_Study_Notes.md" TargetMode="External" Id="R36fd83b87e89437e" /><Relationship Type="http://schemas.openxmlformats.org/officeDocument/2006/relationships/hyperlink" Target="https://anthropic.skilljar.com/claude-with-the-anthropic-api/287753" TargetMode="External" Id="R315d4e35cb154aac" /><Relationship Type="http://schemas.openxmlformats.org/officeDocument/2006/relationships/hyperlink" Target="https://anthropic.skilljar.com/claude-with-the-anthropic-api/287757" TargetMode="External" Id="Reb30cc59354a4ce6" /><Relationship Type="http://schemas.openxmlformats.org/officeDocument/2006/relationships/notesSlide" Target="/ppt/notesSlides/notesSlide3.xml" Id="Rb8dd771d462b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47bd83a134370" /><Relationship Type="http://schemas.openxmlformats.org/officeDocument/2006/relationships/hyperlink" Target="https://github.com/caiboyang/ML-learning/blob/main/phase3_tool_usage/Tool_Use_Study_Notes.md" TargetMode="External" Id="R32175546bcd64bb4" /><Relationship Type="http://schemas.openxmlformats.org/officeDocument/2006/relationships/hyperlink" Target="https://platform.claude.com/docs/en/agents-and-tools/tool-use/overview" TargetMode="External" Id="R21d90ebc54af424b" /><Relationship Type="http://schemas.openxmlformats.org/officeDocument/2006/relationships/notesSlide" Target="/ppt/notesSlides/notesSlide4.xml" Id="Rf4291a7e6cef45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fbe55919449d0" /><Relationship Type="http://schemas.openxmlformats.org/officeDocument/2006/relationships/hyperlink" Target="https://github.com/caiboyang/ML-learning/blob/main/phase3_tool_usage/Tool_Use_Study_Notes.md" TargetMode="External" Id="R3feed5642b2b47e2" /><Relationship Type="http://schemas.openxmlformats.org/officeDocument/2006/relationships/hyperlink" Target="https://platform.claude.com/docs/en/agents-and-tools/tool-use/define-tools" TargetMode="External" Id="Rc477b87d52784b99" /><Relationship Type="http://schemas.openxmlformats.org/officeDocument/2006/relationships/hyperlink" Target="https://platform.claude.com/docs/en/agents-and-tools/tool-use/tool-reference" TargetMode="External" Id="R2e7c6a7c9d2a4398" /><Relationship Type="http://schemas.openxmlformats.org/officeDocument/2006/relationships/notesSlide" Target="/ppt/notesSlides/notesSlide5.xml" Id="R787f6f08c42b4a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d154815404066" /><Relationship Type="http://schemas.openxmlformats.org/officeDocument/2006/relationships/hyperlink" Target="https://github.com/caiboyang/ML-learning/blob/main/phase3_tool_usage/Tool_Use_Study_Notes.md" TargetMode="External" Id="R470831ebcac64ac6" /><Relationship Type="http://schemas.openxmlformats.org/officeDocument/2006/relationships/hyperlink" Target="https://platform.claude.com/docs/en/agents-and-tools/tool-use/overview" TargetMode="External" Id="R7d2c34187f394e58" /><Relationship Type="http://schemas.openxmlformats.org/officeDocument/2006/relationships/hyperlink" Target="https://platform.claude.com/docs/en/agents-and-tools/tool-use/tool-reference" TargetMode="External" Id="R1368707c3ff44e80" /><Relationship Type="http://schemas.openxmlformats.org/officeDocument/2006/relationships/notesSlide" Target="/ppt/notesSlides/notesSlide6.xml" Id="Raee9368a9a2942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5575bd5df46ab" /><Relationship Type="http://schemas.openxmlformats.org/officeDocument/2006/relationships/hyperlink" Target="https://github.com/caiboyang/ML-learning/blob/main/phase3_tool_usage/Tool_Use_Study_Notes.md" TargetMode="External" Id="Rcd4d71ba7dfd4131" /><Relationship Type="http://schemas.openxmlformats.org/officeDocument/2006/relationships/hyperlink" Target="https://platform.claude.com/docs/en/agents-and-tools/tool-use/handle-tool-calls" TargetMode="External" Id="R6c2ad26287d742f0" /><Relationship Type="http://schemas.openxmlformats.org/officeDocument/2006/relationships/notesSlide" Target="/ppt/notesSlides/notesSlide7.xml" Id="R076fdd65e4ec4d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cd9a1bff4a0a" /><Relationship Type="http://schemas.openxmlformats.org/officeDocument/2006/relationships/hyperlink" Target="https://github.com/caiboyang/ML-learning/blob/main/phase3_tool_usage/Tool_Use_Study_Notes.md" TargetMode="External" Id="R296634587c134ddd" /><Relationship Type="http://schemas.openxmlformats.org/officeDocument/2006/relationships/hyperlink" Target="https://platform.claude.com/docs/en/agents-and-tools/tool-use/handle-tool-calls" TargetMode="External" Id="R8462d5a9db3f427c" /><Relationship Type="http://schemas.openxmlformats.org/officeDocument/2006/relationships/notesSlide" Target="/ppt/notesSlides/notesSlide8.xml" Id="R1169682e8e7c46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190990b0847f1" /><Relationship Type="http://schemas.openxmlformats.org/officeDocument/2006/relationships/hyperlink" Target="https://github.com/caiboyang/ML-learning/blob/main/phase3_tool_usage/Tool_Use_Study_Notes.md" TargetMode="External" Id="Raed4b4d3a6074603" /><Relationship Type="http://schemas.openxmlformats.org/officeDocument/2006/relationships/hyperlink" Target="https://platform.claude.com/docs/en/build-with-claude/handling-stop-reasons" TargetMode="External" Id="Ref9f6913efdd48dc" /><Relationship Type="http://schemas.openxmlformats.org/officeDocument/2006/relationships/notesSlide" Target="/ppt/notesSlides/notesSlide9.xml" Id="R8aabab04aaf8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f82b1de584d21" /><Relationship Type="http://schemas.openxmlformats.org/officeDocument/2006/relationships/hyperlink" Target="https://github.com/caiboyang/ML-learning/blob/main/phase3_tool_usage/Tool_Use_Study_Notes.md" TargetMode="External" Id="R9626fefea91c4150" /><Relationship Type="http://schemas.openxmlformats.org/officeDocument/2006/relationships/hyperlink" Target="https://platform.claude.com/docs/en/agents-and-tools/tool-use/handle-tool-calls" TargetMode="External" Id="R7dd1c01bd801450a" /><Relationship Type="http://schemas.openxmlformats.org/officeDocument/2006/relationships/notesSlide" Target="/ppt/notesSlides/notesSlide10.xml" Id="Rbd27b10ef0724e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75e7994b24640" /><Relationship Type="http://schemas.openxmlformats.org/officeDocument/2006/relationships/hyperlink" Target="https://github.com/caiboyang/ML-learning/blob/main/phase3_tool_usage/Tool_Use_Study_Notes.md" TargetMode="External" Id="R98ec035b0a2042b3" /><Relationship Type="http://schemas.openxmlformats.org/officeDocument/2006/relationships/hyperlink" Target="https://platform.claude.com/docs/en/agents-and-tools/tool-use/parallel-tool-use" TargetMode="External" Id="R491ab7c4cb65424c" /><Relationship Type="http://schemas.openxmlformats.org/officeDocument/2006/relationships/notesSlide" Target="/ppt/notesSlides/notesSlide11.xml" Id="R212e41e8789542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ed8aaacc7406a" /><Relationship Type="http://schemas.openxmlformats.org/officeDocument/2006/relationships/hyperlink" Target="https://github.com/caiboyang/ML-learning/blob/main/phase3_tool_usage/Tool_Use_Study_Notes.md" TargetMode="External" Id="Re31ddaadd200455f" /><Relationship Type="http://schemas.openxmlformats.org/officeDocument/2006/relationships/hyperlink" Target="https://platform.claude.com/docs/en/agents-and-tools/tool-use/define-tools" TargetMode="External" Id="Rac06ebd01c474fdd" /><Relationship Type="http://schemas.openxmlformats.org/officeDocument/2006/relationships/hyperlink" Target="https://platform.claude.com/docs/en/agents-and-tools/tool-use/parallel-tool-use" TargetMode="External" Id="Ra0968af469c84ca1" /><Relationship Type="http://schemas.openxmlformats.org/officeDocument/2006/relationships/notesSlide" Target="/ppt/notesSlides/notesSlide12.xml" Id="Rbf091444958445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f3f5a15d04ef6" /><Relationship Type="http://schemas.openxmlformats.org/officeDocument/2006/relationships/hyperlink" Target="https://github.com/caiboyang/ML-learning/blob/main/phase3_tool_usage/Tool_Use_Study_Notes.md" TargetMode="External" Id="R9db81b507dd842ed" /><Relationship Type="http://schemas.openxmlformats.org/officeDocument/2006/relationships/hyperlink" Target="https://platform.claude.com/docs/en/build-with-claude/structured-outputs" TargetMode="External" Id="R3c4073612098483e" /><Relationship Type="http://schemas.openxmlformats.org/officeDocument/2006/relationships/notesSlide" Target="/ppt/notesSlides/notesSlide13.xml" Id="R38929a5e5df247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b94dcc4894a25" /><Relationship Type="http://schemas.openxmlformats.org/officeDocument/2006/relationships/hyperlink" Target="https://github.com/caiboyang/ML-learning/blob/main/phase3_tool_usage/Tool_Use_Study_Notes.md" TargetMode="External" Id="Re645acaa248d4e3a" /><Relationship Type="http://schemas.openxmlformats.org/officeDocument/2006/relationships/hyperlink" Target="https://platform.claude.com/docs/en/agents-and-tools/tool-use/tool-search-tool" TargetMode="External" Id="R693a360c51ec4756" /><Relationship Type="http://schemas.openxmlformats.org/officeDocument/2006/relationships/hyperlink" Target="https://platform.claude.com/docs/en/agents-and-tools/tool-use/programmatic-tool-calling" TargetMode="External" Id="R8229ab49a9b3453d" /><Relationship Type="http://schemas.openxmlformats.org/officeDocument/2006/relationships/hyperlink" Target="https://platform.claude.com/docs/en/build-with-claude/prompt-caching" TargetMode="External" Id="R4f08040bd58a4a19" /><Relationship Type="http://schemas.openxmlformats.org/officeDocument/2006/relationships/notesSlide" Target="/ppt/notesSlides/notesSlide14.xml" Id="Rdc96f060e1504b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e6b147cb743c4" /><Relationship Type="http://schemas.openxmlformats.org/officeDocument/2006/relationships/hyperlink" Target="https://github.com/caiboyang/ML-learning/blob/main/phase3_tool_usage/Tool_Use_Study_Notes.md" TargetMode="External" Id="R72086e76eef34949" /><Relationship Type="http://schemas.openxmlformats.org/officeDocument/2006/relationships/hyperlink" Target="https://platform.claude.com/docs/en/agents-and-tools/tool-use/tool-reference" TargetMode="External" Id="Redf45fb7e33640ab" /><Relationship Type="http://schemas.openxmlformats.org/officeDocument/2006/relationships/notesSlide" Target="/ppt/notesSlides/notesSlide15.xml" Id="R03f63c1f21de43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625c064f84ec6" /><Relationship Type="http://schemas.openxmlformats.org/officeDocument/2006/relationships/hyperlink" Target="https://github.com/caiboyang/ML-learning/blob/main/phase3_tool_usage/Tool_Use_Study_Notes.md" TargetMode="External" Id="Rd41fc9b36053476f" /><Relationship Type="http://schemas.openxmlformats.org/officeDocument/2006/relationships/hyperlink" Target="https://platform.claude.com/docs/en/agents-and-tools/tool-use/tool-runner" TargetMode="External" Id="R8a6f8f75046b43f2" /><Relationship Type="http://schemas.openxmlformats.org/officeDocument/2006/relationships/notesSlide" Target="/ppt/notesSlides/notesSlide16.xml" Id="R0b906518d80541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e3d42ecac4532" /><Relationship Type="http://schemas.openxmlformats.org/officeDocument/2006/relationships/hyperlink" Target="https://github.com/caiboyang/ML-learning/blob/main/phase3_tool_usage/Tool_Use_Study_Notes.md" TargetMode="External" Id="R93bfcc086f4c4aa3" /><Relationship Type="http://schemas.openxmlformats.org/officeDocument/2006/relationships/hyperlink" Target="https://platform.claude.com/docs/en/agents-and-tools/tool-use/programmatic-tool-calling" TargetMode="External" Id="R65b289c9cc6e4f3d" /><Relationship Type="http://schemas.openxmlformats.org/officeDocument/2006/relationships/hyperlink" Target="https://platform.claude.com/docs/en/agents-and-tools/tool-use/overview" TargetMode="External" Id="Rc197928173f240f4" /><Relationship Type="http://schemas.openxmlformats.org/officeDocument/2006/relationships/notesSlide" Target="/ppt/notesSlides/notesSlide17.xml" Id="Rac465a97cb4242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7c73b567b48f0" /><Relationship Type="http://schemas.openxmlformats.org/officeDocument/2006/relationships/hyperlink" Target="https://github.com/caiboyang/ML-learning/blob/main/phase3_tool_usage/Tool_Use_Study_Notes.md" TargetMode="External" Id="R09199af7a5b84079" /><Relationship Type="http://schemas.openxmlformats.org/officeDocument/2006/relationships/hyperlink" Target="https://platform.claude.com/docs/en/about-claude/models/migration-guide" TargetMode="External" Id="R31504205b8604e97" /><Relationship Type="http://schemas.openxmlformats.org/officeDocument/2006/relationships/hyperlink" Target="https://platform.claude.com/docs/en/agents-and-tools/tool-use/tool-reference" TargetMode="External" Id="Reedd4091a1e64449" /><Relationship Type="http://schemas.openxmlformats.org/officeDocument/2006/relationships/notesSlide" Target="/ppt/notesSlides/notesSlide18.xml" Id="Ref47003eaaef4e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4fa129b1540fe" /><Relationship Type="http://schemas.openxmlformats.org/officeDocument/2006/relationships/hyperlink" Target="https://github.com/caiboyang/ML-learning/blob/main/phase3_tool_usage/Tool_Use_Study_Notes.md" TargetMode="External" Id="Rd6e166e1b4b64fc1" /><Relationship Type="http://schemas.openxmlformats.org/officeDocument/2006/relationships/hyperlink" Target="https://platform.claude.com/docs/en/agents-and-tools/tool-use/overview" TargetMode="External" Id="R06e16b5f13034605" /><Relationship Type="http://schemas.openxmlformats.org/officeDocument/2006/relationships/hyperlink" Target="https://platform.claude.com/docs/en/agents-and-tools/tool-use/handle-tool-calls" TargetMode="External" Id="R4d8b23c23a7f4374" /><Relationship Type="http://schemas.openxmlformats.org/officeDocument/2006/relationships/notesSlide" Target="/ppt/notesSlides/notesSlide19.xml" Id="R068e2629dd7540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C9D37D07-2936-45A0-B10A-E4914798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ANTHROPIC API · PHASE 3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AC0A98B3-8C67-4D96-8A0D-FD835FA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Claude Tool Use</a:t>
            </a:r>
          </a:p>
          <a:p xmlns:a="http://schemas.openxmlformats.org/drawingml/2006/main">
            <a:pPr algn="l">
              <a:defRPr sz="54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工具调用实战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CFFBED-09D7-4DD0-96CC-C10421E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从 schema、报文往返到安全的 agentic loop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ACB2569-D627-4BA8-9D2A-85DEF05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DFF1F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CC6C5A-78F8-4547-A5E2-78B060AD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1123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{}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E9C99C-4354-43AF-92AB-98C0AD58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基于 ML-learning / Tool_Use_Study_Notes.md</a:t>
            </a:r>
          </a:p>
        </p:txBody>
      </p:sp>
      <p:cxnSp>
        <p:nvCxnSpPr>
          <p:cNvPr id="15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2E96165-F6FE-42E6-A2F4-629F13FE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aa0e0e2c2af418e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36e0e7b3b5141a1"/>
              </a:rPr>
              <a:t>Anthropic Academy · Tool Use</a:t>
            </a:r>
          </a:p>
        </p:txBody>
      </p:sp>
    </p:spTree>
    <p:extLst>
      <p:ext uri="{BB962C8B-B14F-4D97-AF65-F5344CB8AC3E}">
        <p14:creationId xmlns:p14="http://schemas.microsoft.com/office/powerpoint/2010/main" val="2007744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AAAA789B-B49C-43FF-B8F4-CA064113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WHY THIS DECK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8A6D391-FF70-4AB1-8ADA-01971CB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先修正代码，再学习概念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CABAA8-FF1E-4DBB-8E90-30B325E5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119C58BD-8659-48A0-AACE-A287BAA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53340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FCE8E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CA17B4-FFB3-4D65-84A4-8F37ED94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会真正出事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B09358-27DE-426E-9839-E844E24A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9149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① 采样参数在当前模型上返回 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② content[1] 会拿错 block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③ pause_turn 会被静默当成完成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CDE28C52-E263-40F5-895C-6F5DC78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56388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DBA3C4-EC98-40C1-8E3F-E23459D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配置或路径已经过时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D7488E-435D-4DA1-A9BA-1617FB58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2197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④ text editor 的 type / name 必须成对升级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⑤ undo_edit 已从新版命令集移除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⑥ fine_grained beta 路径改为 eager_input_streaming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88A822-CC6D-40DF-8816-0073973B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课程结构依然优秀；可直接复制的，是思路，不是旧示例。</a:t>
            </a:r>
          </a:p>
        </p:txBody>
      </p:sp>
      <p:cxnSp>
        <p:nvCxnSpPr>
          <p:cNvPr id="25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9D5DAF8-1068-4687-9916-2825305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741229d47524ede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6c3ba10f99d42e9"/>
              </a:rPr>
              <a:t>Anthropic · migration guide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f2537f74c5f4176"/>
              </a:rPr>
              <a:t>Anthropic · tool reference</a:t>
            </a:r>
          </a:p>
        </p:txBody>
      </p:sp>
    </p:spTree>
    <p:extLst>
      <p:ext uri="{BB962C8B-B14F-4D97-AF65-F5344CB8AC3E}">
        <p14:creationId xmlns:p14="http://schemas.microsoft.com/office/powerpoint/2010/main" val="1831376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label">
            <a:extLst xmlns:a="http://schemas.openxmlformats.org/drawingml/2006/main">
              <a:ext uri="{FF2B5EF4-FFF2-40B4-BE49-F238E27FC236}">
                <a16:creationId xmlns:a16="http://schemas.microsoft.com/office/drawing/2014/main" id="{03F520E1-DCC9-426A-BE75-180F1E4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LEARNING PATH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E92B50D-9113-4819-8291-28BE5836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九课其实在搭一条 agentic loop</a:t>
            </a:r>
          </a:p>
        </p:txBody>
      </p:sp>
      <p:cxnSp>
        <p:nvCxnSpPr>
          <p:cNvPr id="53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E05B5A-D0DE-4605-89FB-E0B7890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path-0">
            <a:extLst xmlns:a="http://schemas.openxmlformats.org/drawingml/2006/main">
              <a:ext uri="{FF2B5EF4-FFF2-40B4-BE49-F238E27FC236}">
                <a16:creationId xmlns:a16="http://schemas.microsoft.com/office/drawing/2014/main" id="{0088F0B3-992C-43CB-92F8-128B1D6E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428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238BAC-3816-40A6-85A7-D526D4E5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1 Schema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8DDCA4-6253-4937-B9EC-C9C5A7E1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描述能力</a:t>
            </a:r>
          </a:p>
        </p:txBody>
      </p:sp>
      <p:sp>
        <p:nvSpPr>
          <p:cNvPr id="8" name="path-1">
            <a:extLst xmlns:a="http://schemas.openxmlformats.org/drawingml/2006/main">
              <a:ext uri="{FF2B5EF4-FFF2-40B4-BE49-F238E27FC236}">
                <a16:creationId xmlns:a16="http://schemas.microsoft.com/office/drawing/2014/main" id="{202E233C-64DE-43AC-ADDE-C13025E0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1428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3E5B39-CD5D-4863-8A41-31365F9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526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2 Blocks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F784BE-E7E7-490E-9396-A1B9DF1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理解响应</a:t>
            </a:r>
          </a:p>
        </p:txBody>
      </p:sp>
      <p:sp>
        <p:nvSpPr>
          <p:cNvPr id="11" name="path-2">
            <a:extLst xmlns:a="http://schemas.openxmlformats.org/drawingml/2006/main">
              <a:ext uri="{FF2B5EF4-FFF2-40B4-BE49-F238E27FC236}">
                <a16:creationId xmlns:a16="http://schemas.microsoft.com/office/drawing/2014/main" id="{86692873-67A6-4F92-8BEC-E1ECBFE7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428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FA9F25-9235-4D0F-B474-8E03929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3 Result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392875-6940-4A29-B857-3F1F0B8A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回填结果</a:t>
            </a:r>
          </a:p>
        </p:txBody>
      </p:sp>
      <p:sp>
        <p:nvSpPr>
          <p:cNvPr id="14" name="path-3">
            <a:extLst xmlns:a="http://schemas.openxmlformats.org/drawingml/2006/main">
              <a:ext uri="{FF2B5EF4-FFF2-40B4-BE49-F238E27FC236}">
                <a16:creationId xmlns:a16="http://schemas.microsoft.com/office/drawing/2014/main" id="{F3601BFB-427F-48B6-A698-5E5EA19E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1428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4C7A54-737E-47A6-AD30-23059E3B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4 Helpers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26648A-1021-40F5-A1D4-E8A3167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维护历史</a:t>
            </a:r>
          </a:p>
        </p:txBody>
      </p:sp>
      <p:sp>
        <p:nvSpPr>
          <p:cNvPr id="17" name="path-4">
            <a:extLst xmlns:a="http://schemas.openxmlformats.org/drawingml/2006/main">
              <a:ext uri="{FF2B5EF4-FFF2-40B4-BE49-F238E27FC236}">
                <a16:creationId xmlns:a16="http://schemas.microsoft.com/office/drawing/2014/main" id="{AA7DEA9E-FE87-4806-A075-65041B12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1428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E7C6FD-1E6C-499C-A8F7-0C5840ED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5 Loop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730AEF-9E3D-4D8E-862D-8ECFAD7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持续执行</a:t>
            </a:r>
          </a:p>
        </p:txBody>
      </p:sp>
      <p:sp>
        <p:nvSpPr>
          <p:cNvPr id="20" name="path-5">
            <a:extLst xmlns:a="http://schemas.openxmlformats.org/drawingml/2006/main">
              <a:ext uri="{FF2B5EF4-FFF2-40B4-BE49-F238E27FC236}">
                <a16:creationId xmlns:a16="http://schemas.microsoft.com/office/drawing/2014/main" id="{48A9BEAA-3C20-4F23-9281-91C22A1C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38350"/>
            <a:ext cx="1428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E73A2C7-3C14-43A5-AE27-AFA7ABB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6 多工具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D921A4-24FE-44D2-A361-216CBE7E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路由并行</a:t>
            </a:r>
          </a:p>
        </p:txBody>
      </p:sp>
      <p:sp>
        <p:nvSpPr>
          <p:cNvPr id="23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5B1A19CA-273D-4C7D-9270-9A1E64F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05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4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AB7D9AB4-930D-43BC-AFC2-2018529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5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874112F8-CC4B-4CE6-870A-7AC2EF9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6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17620ED9-AC2E-4D37-8814-1D843A38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05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7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6F6E9F1D-A676-470E-B7F1-8892123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8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F7BAF493-24E2-4398-A9F3-A63F7F40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050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9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98E36DE6-6D54-4CB3-8673-25AF9E16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5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0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61CE44BC-4947-4CA7-9402-D9BBF30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1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DF3E082D-4DAF-45A3-A8A4-DDA21C88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050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2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FBC37BEF-D381-406E-AC7C-1F6E3ED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05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3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F3FF9D52-E3DA-497F-9B58-07096D05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4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9061268D-976B-492E-958F-325BC2E0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050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5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704493FE-41A4-4288-811C-3679780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050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6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F3BCBD71-57A3-4E07-99EF-6CD3C77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7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CBFED961-7B0C-49BE-A7E6-8F8DA3C0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050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cxnSp>
        <p:nvCxnSpPr>
          <p:cNvPr id="88" name="rule"/>
          <p:cNvCxnSpPr/>
          <p:nvPr/>
        </p:nvCxnSpPr>
        <p:spPr>
          <a:xfrm xmlns:a="http://schemas.openxmlformats.org/drawingml/2006/main">
            <a:off x="1219200" y="37719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DBF06875-32A5-4D97-89E2-2FBA753E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3333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2EDB9DF-8196-4647-AFCC-B109283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Streaming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D276B88-E1E4-45C2-AAE4-97AA382C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输入 JSON 的延迟与校验权衡</a:t>
            </a:r>
          </a:p>
        </p:txBody>
      </p:sp>
      <p:sp>
        <p:nvSpPr>
          <p:cNvPr id="42" name="card">
            <a:extLst xmlns:a="http://schemas.openxmlformats.org/drawingml/2006/main">
              <a:ext uri="{FF2B5EF4-FFF2-40B4-BE49-F238E27FC236}">
                <a16:creationId xmlns:a16="http://schemas.microsoft.com/office/drawing/2014/main" id="{3DC9449F-CB77-41BD-9C32-79FEA83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6E9DC4C7-639F-4EF6-BF1D-CD02ACE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243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Server tools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9BF4762D-35AA-4C5D-A651-6B80321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76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Web search / fetch / code execution</a:t>
            </a:r>
          </a:p>
        </p:txBody>
      </p:sp>
      <p:sp>
        <p:nvSpPr>
          <p:cNvPr id="45" name="card">
            <a:extLst xmlns:a="http://schemas.openxmlformats.org/drawingml/2006/main">
              <a:ext uri="{FF2B5EF4-FFF2-40B4-BE49-F238E27FC236}">
                <a16:creationId xmlns:a16="http://schemas.microsoft.com/office/drawing/2014/main" id="{3E66C912-08CA-4B2B-909E-92573AAD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3333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66000D9E-3F2B-47A2-9839-40E3239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Text editor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F0ADB77B-2F91-40DD-940C-CCAA25A8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76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Anthropic schema，客户端执行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53DDAABF-17CC-41E6-A51E-7D4C5B4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第 5 课是收敛点：一个可运行、可扩展、可出错恢复的循环。</a:t>
            </a:r>
          </a:p>
        </p:txBody>
      </p:sp>
      <p:cxnSp>
        <p:nvCxnSpPr>
          <p:cNvPr id="99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5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F1763DD-A0B6-45CF-B336-6071888A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6fd83b87e89437e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15d4e35cb154aac"/>
              </a:rPr>
              <a:t>Academy · Tool schemas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b30cc59354a4ce6"/>
              </a:rPr>
              <a:t>Academy · message blocks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+4 lesson links in Notes</a:t>
            </a:r>
          </a:p>
        </p:txBody>
      </p:sp>
    </p:spTree>
    <p:extLst>
      <p:ext uri="{BB962C8B-B14F-4D97-AF65-F5344CB8AC3E}">
        <p14:creationId xmlns:p14="http://schemas.microsoft.com/office/powerpoint/2010/main" val="1183782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43728AFB-B1A1-45A2-A372-25D44443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MENTAL MODEL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87CADB3-40F7-446E-8F15-CCA468B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Tool Use 本质是协议，不是魔法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969D72-CD9E-44AF-93CD-93804B4D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3522AB43-1617-476B-81C1-0FECBE54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FBD53F-FF2F-4E75-B39D-1075920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32AD9A-C461-4F22-824E-BBF60B68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1 · 定义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F86E74-59FE-4C80-8588-90D7956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9146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用 JSON Schema 告诉模型：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有什么能力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何时应该调用</a:t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参数必须长什么样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98155DA8-B931-4509-97EA-9A42807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DFF1F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150393-A35C-4948-8C7F-B4DABE6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85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5427C4-6062-43F3-8C3F-36CEF25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479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2 · 决策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29AA5E-98F3-47C4-980C-00E14E8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62250"/>
            <a:ext cx="29146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Claude 只负责选择工具并生成 tool_use。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它不会执行你的客户端代码。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5372CAB9-4888-466C-AFCB-01DD505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8298F81-311B-4DC2-9387-677B39A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904EAA-7BD5-4E38-8AAF-66202F73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3 · 执行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4CBB23-F380-4ADF-A395-A61BFDC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62250"/>
            <a:ext cx="29146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应用验证输入、运行 handler，再把 tool_result 放回对话历史。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0512B37-0A09-493D-8511-84A41EF3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Tool = schema + routing + result contract</a:t>
            </a:r>
          </a:p>
        </p:txBody>
      </p:sp>
      <p:cxnSp>
        <p:nvCxnSpPr>
          <p:cNvPr id="37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323917F-AA11-4092-9380-BCF6294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2175546bcd64bb4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1d90ebc54af424b"/>
              </a:rPr>
              <a:t>Anthropic · tool-use overview</a:t>
            </a:r>
          </a:p>
        </p:txBody>
      </p:sp>
    </p:spTree>
    <p:extLst>
      <p:ext uri="{BB962C8B-B14F-4D97-AF65-F5344CB8AC3E}">
        <p14:creationId xmlns:p14="http://schemas.microsoft.com/office/powerpoint/2010/main" val="2135913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16CB7394-704A-4A3B-8E77-0B34DF21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TOOL SCHEMA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B822A52-B28B-4637-A86D-943D2CC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Schema 决定模型能否正确调用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60380A-722F-4136-AEEF-3A5906BE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B7E8DDB7-BF8C-4D14-9922-A0B5D028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360CF82F-4200-4663-B434-1F82063A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"name": "get_weather",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"description": "Get current weather...",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"input_schema": {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"type": "object",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"properties": {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  "location": {"type": "string"}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"required": ["location"],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"additionalProperties": false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"strict": true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097B2BB5-62BB-4400-A0BE-7BCF0E7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必填三字段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64705D-B425-4D36-A43C-C8C65CFF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name</a:t>
            </a:r>
          </a:p>
          <a:p xmlns:a="http://schemas.openxmlformats.org/drawingml/2006/main">
            <a:pPr algn="l">
              <a:def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description</a:t>
            </a:r>
          </a:p>
          <a:p xmlns:a="http://schemas.openxmlformats.org/drawingml/2006/main">
            <a:pPr algn="l">
              <a:def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input_schema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7EC44D61-D638-450D-A153-8C4B0D4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六个可选字段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30C7CD-EBAA-4FA7-9EEA-00886ED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5257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0B0D0E"/>
                </a:solidFill>
                <a:latin typeface="Menlo"/>
                <a:ea typeface="Menlo"/>
                <a:cs typeface="Menlo"/>
              </a:rPr>
              <a:t>strict · input_examples · cache_control</a:t>
            </a:r>
          </a:p>
          <a:p xmlns:a="http://schemas.openxmlformats.org/drawingml/2006/main">
            <a:pPr algn="l">
              <a:defRPr sz="1650" b="0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0B0D0E"/>
                </a:solidFill>
                <a:latin typeface="Menlo"/>
                <a:ea typeface="Menlo"/>
                <a:cs typeface="Menlo"/>
              </a:rPr>
              <a:t>defer_loading · allowed_callers</a:t>
            </a:r>
          </a:p>
          <a:p xmlns:a="http://schemas.openxmlformats.org/drawingml/2006/main">
            <a:pPr algn="l">
              <a:defRPr sz="1650" b="0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0B0D0E"/>
                </a:solidFill>
                <a:latin typeface="Menlo"/>
                <a:ea typeface="Menlo"/>
                <a:cs typeface="Menlo"/>
              </a:rPr>
              <a:t>eager_input_streaming</a:t>
            </a:r>
          </a:p>
        </p:txBody>
      </p:sp>
      <p:sp>
        <p:nvSpPr>
          <p:cNvPr id="11" name="schema-tip">
            <a:extLst xmlns:a="http://schemas.openxmlformats.org/drawingml/2006/main">
              <a:ext uri="{FF2B5EF4-FFF2-40B4-BE49-F238E27FC236}">
                <a16:creationId xmlns:a16="http://schemas.microsoft.com/office/drawing/2014/main" id="{03A18990-2EB6-4E27-B976-190F3732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257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6AA392D-874A-40AE-B91C-E533070A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描述质量是工具调用准确率的头号因素。</a:t>
            </a:r>
          </a:p>
        </p:txBody>
      </p:sp>
      <p:cxnSp>
        <p:nvCxnSpPr>
          <p:cNvPr id="27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F17285-9C1E-4FB4-9B4C-DA89421D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feed5642b2b47e2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477b87d52784b99"/>
              </a:rPr>
              <a:t>Anthropic · define tools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e7c6a7c9d2a4398"/>
              </a:rPr>
              <a:t>Anthropic · tool reference</a:t>
            </a:r>
          </a:p>
        </p:txBody>
      </p:sp>
    </p:spTree>
    <p:extLst>
      <p:ext uri="{BB962C8B-B14F-4D97-AF65-F5344CB8AC3E}">
        <p14:creationId xmlns:p14="http://schemas.microsoft.com/office/powerpoint/2010/main" val="441747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label">
            <a:extLst xmlns:a="http://schemas.openxmlformats.org/drawingml/2006/main">
              <a:ext uri="{FF2B5EF4-FFF2-40B4-BE49-F238E27FC236}">
                <a16:creationId xmlns:a16="http://schemas.microsoft.com/office/drawing/2014/main" id="{CA3DD4CC-F86F-430D-8875-D23C27D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SYSTEM DIAGRAM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7EF2884-A627-40C1-9709-0141F38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唯一的本质区别：代码在哪里跑</a:t>
            </a:r>
          </a:p>
        </p:txBody>
      </p:sp>
      <p:cxnSp>
        <p:nvCxnSpPr>
          <p:cNvPr id="40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0FEEB0-7E58-4998-95A4-5B221E0E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your-app-boundary">
            <a:extLst xmlns:a="http://schemas.openxmlformats.org/drawingml/2006/main">
              <a:ext uri="{FF2B5EF4-FFF2-40B4-BE49-F238E27FC236}">
                <a16:creationId xmlns:a16="http://schemas.microsoft.com/office/drawing/2014/main" id="{9E1A7911-FD54-470B-9D4B-5A99468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2578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anthropic-boundary">
            <a:extLst xmlns:a="http://schemas.openxmlformats.org/drawingml/2006/main">
              <a:ext uri="{FF2B5EF4-FFF2-40B4-BE49-F238E27FC236}">
                <a16:creationId xmlns:a16="http://schemas.microsoft.com/office/drawing/2014/main" id="{2EF11B05-8195-4997-A188-BCE4EA9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2578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35A0B7C1-F31B-4743-8C8D-A43E696D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你的应用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97838C21-3E21-4C89-B13D-0FC106E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Anthropic 基础设施</a:t>
            </a:r>
          </a:p>
        </p:txBody>
      </p:sp>
      <p:sp>
        <p:nvSpPr>
          <p:cNvPr id="9" name="app">
            <a:extLst xmlns:a="http://schemas.openxmlformats.org/drawingml/2006/main">
              <a:ext uri="{FF2B5EF4-FFF2-40B4-BE49-F238E27FC236}">
                <a16:creationId xmlns:a16="http://schemas.microsoft.com/office/drawing/2014/main" id="{D2C43C27-18EB-4D8B-89B8-433EDCA9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98A385-E479-4140-83E5-601A64A0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业务代码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1CA498-A761-4307-87FE-83F46FC3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messages + agent loop</a:t>
            </a:r>
          </a:p>
        </p:txBody>
      </p:sp>
      <p:sp>
        <p:nvSpPr>
          <p:cNvPr id="12" name="client-tools">
            <a:extLst xmlns:a="http://schemas.openxmlformats.org/drawingml/2006/main">
              <a:ext uri="{FF2B5EF4-FFF2-40B4-BE49-F238E27FC236}">
                <a16:creationId xmlns:a16="http://schemas.microsoft.com/office/drawing/2014/main" id="{C0F5FA84-E068-4B1F-B107-1AACC1B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27C000-F620-4F3B-B9F6-3F3EF365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Client tools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41B6DE-6DED-4516-A63E-E42CA55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custom / bash / editor / memory</a:t>
            </a:r>
          </a:p>
        </p:txBody>
      </p:sp>
      <p:sp>
        <p:nvSpPr>
          <p:cNvPr id="15" name="model">
            <a:extLst xmlns:a="http://schemas.openxmlformats.org/drawingml/2006/main">
              <a:ext uri="{FF2B5EF4-FFF2-40B4-BE49-F238E27FC236}">
                <a16:creationId xmlns:a16="http://schemas.microsoft.com/office/drawing/2014/main" id="{B553B211-3FB6-48D5-AF41-52C3709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01C463-DEFB-47C7-B71D-DB9D89AF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Claude 模型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A188CB2-D225-47F8-9F1A-AB578F8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POST /v1/messages</a:t>
            </a:r>
          </a:p>
        </p:txBody>
      </p:sp>
      <p:sp>
        <p:nvSpPr>
          <p:cNvPr id="18" name="server-tools">
            <a:extLst xmlns:a="http://schemas.openxmlformats.org/drawingml/2006/main">
              <a:ext uri="{FF2B5EF4-FFF2-40B4-BE49-F238E27FC236}">
                <a16:creationId xmlns:a16="http://schemas.microsoft.com/office/drawing/2014/main" id="{437576CD-1DB9-4F4F-B5CC-6001A05A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D77A48-1720-4A75-91D1-BCCF23B2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481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Server tools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9D9F4B5-35A9-49D3-B50B-0708990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291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search / fetch / code / tool search</a:t>
            </a:r>
          </a:p>
        </p:txBody>
      </p:sp>
      <p:sp>
        <p:nvSpPr>
          <p:cNvPr id="21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0B61D56B-D0E1-492D-9925-E736797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401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2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16886FD4-6688-4D03-A824-8A34596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384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3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D8F3AD5E-3013-4CE3-991E-4762E183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860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4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2CAC1A33-5018-4EBB-A175-40950E15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401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5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A1DD722D-DA7F-4957-8872-8E0F403A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384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BBE14E3A-ED01-4386-8136-271F4073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diagram-diagonal">
            <a:extLst xmlns:a="http://schemas.openxmlformats.org/drawingml/2006/main">
              <a:ext uri="{FF2B5EF4-FFF2-40B4-BE49-F238E27FC236}">
                <a16:creationId xmlns:a16="http://schemas.microsoft.com/office/drawing/2014/main" id="{D171F795-60BB-442D-8BE7-B5DC2B0F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24200"/>
            <a:ext cx="23050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diagram-diagonal-head-upper">
            <a:extLst xmlns:a="http://schemas.openxmlformats.org/drawingml/2006/main">
              <a:ext uri="{FF2B5EF4-FFF2-40B4-BE49-F238E27FC236}">
                <a16:creationId xmlns:a16="http://schemas.microsoft.com/office/drawing/2014/main" id="{619F8033-5EBD-46CB-82EB-8267CB7C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861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diagram-diagonal-head-lower">
            <a:extLst xmlns:a="http://schemas.openxmlformats.org/drawingml/2006/main">
              <a:ext uri="{FF2B5EF4-FFF2-40B4-BE49-F238E27FC236}">
                <a16:creationId xmlns:a16="http://schemas.microsoft.com/office/drawing/2014/main" id="{0D9FEA24-4EC0-4EAD-A214-369D42C1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338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diagram-diagonal">
            <a:extLst xmlns:a="http://schemas.openxmlformats.org/drawingml/2006/main">
              <a:ext uri="{FF2B5EF4-FFF2-40B4-BE49-F238E27FC236}">
                <a16:creationId xmlns:a16="http://schemas.microsoft.com/office/drawing/2014/main" id="{82F89D4D-7977-47E4-A573-AE392BC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24200"/>
            <a:ext cx="23050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1" name="diagram-diagonal-head-upper">
            <a:extLst xmlns:a="http://schemas.openxmlformats.org/drawingml/2006/main">
              <a:ext uri="{FF2B5EF4-FFF2-40B4-BE49-F238E27FC236}">
                <a16:creationId xmlns:a16="http://schemas.microsoft.com/office/drawing/2014/main" id="{1721E028-5C2B-4173-8B4D-9E1C8B4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6861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2" name="diagram-diagonal-head-lower">
            <a:extLst xmlns:a="http://schemas.openxmlformats.org/drawingml/2006/main">
              <a:ext uri="{FF2B5EF4-FFF2-40B4-BE49-F238E27FC236}">
                <a16:creationId xmlns:a16="http://schemas.microsoft.com/office/drawing/2014/main" id="{8C2FB5BA-F1A5-40B2-ABAA-2B7C518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7338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80BD7A8-4D7A-4755-8E8A-E1107BD7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0B0D0E"/>
                </a:solidFill>
                <a:latin typeface="Menlo"/>
                <a:ea typeface="Menlo"/>
                <a:cs typeface="Menlo"/>
              </a:rPr>
              <a:t>request: tools[] + messages[]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57F2373-3EA4-4BD2-B4CF-632DDFFA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813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3D8DFF"/>
                </a:solidFill>
                <a:latin typeface="Menlo"/>
                <a:ea typeface="Menlo"/>
                <a:cs typeface="Menlo"/>
              </a:rPr>
              <a:t>tool_use ↔ tool_result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5AFC067-64BF-4687-B93A-CEAD46A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text_editor：schema 在右，执行仍在左。</a:t>
            </a:r>
          </a:p>
        </p:txBody>
      </p:sp>
      <p:cxnSp>
        <p:nvCxnSpPr>
          <p:cNvPr id="73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2394FA9-9F7D-4EF5-906C-9584AAF0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70831ebcac64ac6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d2c34187f394e58"/>
              </a:rPr>
              <a:t>Anthropic · tool-use overview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368707c3ff44e80"/>
              </a:rPr>
              <a:t>Anthropic · tool reference</a:t>
            </a:r>
          </a:p>
        </p:txBody>
      </p:sp>
    </p:spTree>
    <p:extLst>
      <p:ext uri="{BB962C8B-B14F-4D97-AF65-F5344CB8AC3E}">
        <p14:creationId xmlns:p14="http://schemas.microsoft.com/office/powerpoint/2010/main" val="1233220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label">
            <a:extLst xmlns:a="http://schemas.openxmlformats.org/drawingml/2006/main">
              <a:ext uri="{FF2B5EF4-FFF2-40B4-BE49-F238E27FC236}">
                <a16:creationId xmlns:a16="http://schemas.microsoft.com/office/drawing/2014/main" id="{912BEB10-3A5E-4702-83A7-0B7B7612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BACK-AND-FORTH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0761E95-D9C3-4DD3-ABCC-DA95BE4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一次工具调用，至少两次 HTTP 往返</a:t>
            </a:r>
          </a:p>
        </p:txBody>
      </p:sp>
      <p:cxnSp>
        <p:nvCxnSpPr>
          <p:cNvPr id="58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232CB9-01B0-44E4-BE03-29AED4D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actor-0">
            <a:extLst xmlns:a="http://schemas.openxmlformats.org/drawingml/2006/main">
              <a:ext uri="{FF2B5EF4-FFF2-40B4-BE49-F238E27FC236}">
                <a16:creationId xmlns:a16="http://schemas.microsoft.com/office/drawing/2014/main" id="{60A1CAF0-AA10-41C3-9E4D-B470315D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200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F37350-CC91-45EA-9DCC-7BA3CA1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用户</a:t>
            </a:r>
          </a:p>
        </p:txBody>
      </p:sp>
      <p:sp>
        <p:nvSpPr>
          <p:cNvPr id="7" name="actor-1">
            <a:extLst xmlns:a="http://schemas.openxmlformats.org/drawingml/2006/main">
              <a:ext uri="{FF2B5EF4-FFF2-40B4-BE49-F238E27FC236}">
                <a16:creationId xmlns:a16="http://schemas.microsoft.com/office/drawing/2014/main" id="{1546261E-90C4-4975-9338-C9834A9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66850"/>
            <a:ext cx="200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303DA5-E273-4B40-8549-659AF407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你的应用</a:t>
            </a:r>
          </a:p>
        </p:txBody>
      </p:sp>
      <p:sp>
        <p:nvSpPr>
          <p:cNvPr id="9" name="actor-2">
            <a:extLst xmlns:a="http://schemas.openxmlformats.org/drawingml/2006/main">
              <a:ext uri="{FF2B5EF4-FFF2-40B4-BE49-F238E27FC236}">
                <a16:creationId xmlns:a16="http://schemas.microsoft.com/office/drawing/2014/main" id="{EBDF8F69-1625-4794-BD37-E4C5A737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200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5469BB-AE30-4A6F-8DB9-D795207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Claude API</a:t>
            </a:r>
          </a:p>
        </p:txBody>
      </p:sp>
      <p:sp>
        <p:nvSpPr>
          <p:cNvPr id="11" name="actor-3">
            <a:extLst xmlns:a="http://schemas.openxmlformats.org/drawingml/2006/main">
              <a:ext uri="{FF2B5EF4-FFF2-40B4-BE49-F238E27FC236}">
                <a16:creationId xmlns:a16="http://schemas.microsoft.com/office/drawing/2014/main" id="{86C497C3-A21A-4A02-B6F0-414838CE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00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FE0341-7919-427F-9EF7-ADDB8703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81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外部服务</a:t>
            </a:r>
          </a:p>
        </p:txBody>
      </p:sp>
      <p:cxnSp>
        <p:nvCxnSpPr>
          <p:cNvPr id="68" name="lifeline"/>
          <p:cNvCxnSpPr/>
          <p:nvPr/>
        </p:nvCxnSpPr>
        <p:spPr>
          <a:xfrm xmlns:a="http://schemas.openxmlformats.org/drawingml/2006/main">
            <a:off x="1628775" y="20955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69" name="lifeline"/>
          <p:cNvCxnSpPr/>
          <p:nvPr/>
        </p:nvCxnSpPr>
        <p:spPr>
          <a:xfrm xmlns:a="http://schemas.openxmlformats.org/drawingml/2006/main">
            <a:off x="4429125" y="20955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70" name="lifeline"/>
          <p:cNvCxnSpPr/>
          <p:nvPr/>
        </p:nvCxnSpPr>
        <p:spPr>
          <a:xfrm xmlns:a="http://schemas.openxmlformats.org/drawingml/2006/main">
            <a:off x="7229475" y="20955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71" name="lifeline"/>
          <p:cNvCxnSpPr/>
          <p:nvPr/>
        </p:nvCxnSpPr>
        <p:spPr>
          <a:xfrm xmlns:a="http://schemas.openxmlformats.org/drawingml/2006/main">
            <a:off x="10029825" y="20955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event-0-1-266-from">
            <a:extLst xmlns:a="http://schemas.openxmlformats.org/drawingml/2006/main">
              <a:ext uri="{FF2B5EF4-FFF2-40B4-BE49-F238E27FC236}">
                <a16:creationId xmlns:a16="http://schemas.microsoft.com/office/drawing/2014/main" id="{A51F9A2E-AC66-4F51-AA84-2DCF610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33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ent-0-1-266-to">
            <a:extLst xmlns:a="http://schemas.openxmlformats.org/drawingml/2006/main">
              <a:ext uri="{FF2B5EF4-FFF2-40B4-BE49-F238E27FC236}">
                <a16:creationId xmlns:a16="http://schemas.microsoft.com/office/drawing/2014/main" id="{D0F2DF52-3D59-44AF-8EBB-A8F7E114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9FFB3C4C-2D59-4AD3-8845-59C77BD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622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0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F1000A28-211E-4E31-B8D1-37534F9C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1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274FA96B-45F8-4C02-A552-1F002DA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622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DA30CAC-9743-4EA7-95ED-07F0F7A6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用户请求</a:t>
            </a:r>
          </a:p>
        </p:txBody>
      </p:sp>
      <p:sp>
        <p:nvSpPr>
          <p:cNvPr id="23" name="event-1-2-320-from">
            <a:extLst xmlns:a="http://schemas.openxmlformats.org/drawingml/2006/main">
              <a:ext uri="{FF2B5EF4-FFF2-40B4-BE49-F238E27FC236}">
                <a16:creationId xmlns:a16="http://schemas.microsoft.com/office/drawing/2014/main" id="{08A9EF79-F139-4313-9A40-433895B8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ent-1-2-320-to">
            <a:extLst xmlns:a="http://schemas.openxmlformats.org/drawingml/2006/main">
              <a:ext uri="{FF2B5EF4-FFF2-40B4-BE49-F238E27FC236}">
                <a16:creationId xmlns:a16="http://schemas.microsoft.com/office/drawing/2014/main" id="{46AF4649-1D83-4C7C-A767-810E45A7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9F543BFA-E700-4629-BFF2-EF45CE3D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5342B0C3-4893-4B6D-98CD-171B99F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30EA2914-637D-4CDF-9EAE-F260159D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765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457EE37-6ED1-46F8-BF17-3244299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① tools[] + messages[]</a:t>
            </a:r>
          </a:p>
        </p:txBody>
      </p:sp>
      <p:sp>
        <p:nvSpPr>
          <p:cNvPr id="29" name="event-2-1-374-from">
            <a:extLst xmlns:a="http://schemas.openxmlformats.org/drawingml/2006/main">
              <a:ext uri="{FF2B5EF4-FFF2-40B4-BE49-F238E27FC236}">
                <a16:creationId xmlns:a16="http://schemas.microsoft.com/office/drawing/2014/main" id="{8215BBD6-753D-4F26-8CE3-7EA5A71A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vent-2-1-374-to">
            <a:extLst xmlns:a="http://schemas.openxmlformats.org/drawingml/2006/main">
              <a:ext uri="{FF2B5EF4-FFF2-40B4-BE49-F238E27FC236}">
                <a16:creationId xmlns:a16="http://schemas.microsoft.com/office/drawing/2014/main" id="{69C0AB1E-8D1A-4504-BC31-8CB24FA5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CB71519C-A0F2-4BE9-8168-F05A5980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2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9F8CF680-5029-40E9-AD4B-FA7890B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3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BB9D13AF-EE74-4A65-94D4-DE9A93BA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1E7A72C-A2F0-4AC0-810D-2E32B8B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② stop_reason=tool_use</a:t>
            </a:r>
          </a:p>
        </p:txBody>
      </p:sp>
      <p:sp>
        <p:nvSpPr>
          <p:cNvPr id="35" name="event-1-3-428-from">
            <a:extLst xmlns:a="http://schemas.openxmlformats.org/drawingml/2006/main">
              <a:ext uri="{FF2B5EF4-FFF2-40B4-BE49-F238E27FC236}">
                <a16:creationId xmlns:a16="http://schemas.microsoft.com/office/drawing/2014/main" id="{F16E6668-7A54-4B8C-B7EA-F2C6EEF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76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vent-1-3-428-to">
            <a:extLst xmlns:a="http://schemas.openxmlformats.org/drawingml/2006/main">
              <a:ext uri="{FF2B5EF4-FFF2-40B4-BE49-F238E27FC236}">
                <a16:creationId xmlns:a16="http://schemas.microsoft.com/office/drawing/2014/main" id="{8D455179-012B-4D9D-97B6-3BEF8214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76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B0015C2E-BA4A-4F64-98CA-BFEE3928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05275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8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482CCBBD-25C2-4BDE-9D9F-4FCB3EC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576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9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7AD63D6C-6B36-4723-9210-DA773793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052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4057B3C-A24B-4493-A535-344C263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③ 本地执行 handler</a:t>
            </a:r>
          </a:p>
        </p:txBody>
      </p:sp>
      <p:sp>
        <p:nvSpPr>
          <p:cNvPr id="41" name="event-1-2-482-from">
            <a:extLst xmlns:a="http://schemas.openxmlformats.org/drawingml/2006/main">
              <a:ext uri="{FF2B5EF4-FFF2-40B4-BE49-F238E27FC236}">
                <a16:creationId xmlns:a16="http://schemas.microsoft.com/office/drawing/2014/main" id="{F7CCD7AD-406A-453D-ADB0-5837E68D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event-1-2-482-to">
            <a:extLst xmlns:a="http://schemas.openxmlformats.org/drawingml/2006/main">
              <a:ext uri="{FF2B5EF4-FFF2-40B4-BE49-F238E27FC236}">
                <a16:creationId xmlns:a16="http://schemas.microsoft.com/office/drawing/2014/main" id="{71CCCB16-749E-4661-8C65-627AD19A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91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AE78B00A-B926-4D58-A169-8D1E5F7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96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4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E58EA1DA-2215-4F03-9BB6-66E294F3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5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8B5D9C78-D7E3-4469-BBB2-77DA1D28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96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1A1EF2D5-29EC-43B0-B8E6-0D48813A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④ user(tool_result)</a:t>
            </a:r>
          </a:p>
        </p:txBody>
      </p:sp>
      <p:sp>
        <p:nvSpPr>
          <p:cNvPr id="47" name="event-2-1-536-from">
            <a:extLst xmlns:a="http://schemas.openxmlformats.org/drawingml/2006/main">
              <a:ext uri="{FF2B5EF4-FFF2-40B4-BE49-F238E27FC236}">
                <a16:creationId xmlns:a16="http://schemas.microsoft.com/office/drawing/2014/main" id="{5F4B7882-8030-4922-8427-3B53E5C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event-2-1-536-to">
            <a:extLst xmlns:a="http://schemas.openxmlformats.org/drawingml/2006/main">
              <a:ext uri="{FF2B5EF4-FFF2-40B4-BE49-F238E27FC236}">
                <a16:creationId xmlns:a16="http://schemas.microsoft.com/office/drawing/2014/main" id="{2E6E892B-9587-471C-87BA-4B92940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05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E69B24FD-1AD5-4C0D-9F76-E3EC01E8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339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0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EA8FCD06-1498-4486-B523-E38B8520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863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1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C4A66823-6A3A-45E5-98C0-41D5941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339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90DFDFD5-4C67-46E2-9D42-C1F40625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⑤ end_turn + text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40FAAEAD-AA97-45E9-A21A-C43F8BE2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第二次请求必须携带完整历史，并再次传入 tools。</a:t>
            </a:r>
          </a:p>
        </p:txBody>
      </p:sp>
      <p:cxnSp>
        <p:nvCxnSpPr>
          <p:cNvPr id="109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5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22DE465-5563-4572-8EFA-48034AE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d4d71ba7dfd4131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c2ad26287d742f0"/>
              </a:rPr>
              <a:t>Anthropic · handle tool calls</a:t>
            </a:r>
          </a:p>
        </p:txBody>
      </p:sp>
    </p:spTree>
    <p:extLst>
      <p:ext uri="{BB962C8B-B14F-4D97-AF65-F5344CB8AC3E}">
        <p14:creationId xmlns:p14="http://schemas.microsoft.com/office/powerpoint/2010/main" val="2113061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5668BB5B-A647-4DE1-9815-52ABCD8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MESSAGE BLOCKS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7F3A41C-96AD-4E0C-87F3-BD0BE48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消息历史必须保留完整 block 结构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7621D8-5FA4-4BCF-B5FF-8B5DAA4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AF82D914-F71E-45F4-B2AD-8E90F99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真实响应可能长这样</a:t>
            </a:r>
          </a:p>
        </p:txBody>
      </p:sp>
      <p:sp>
        <p:nvSpPr>
          <p:cNvPr id="6" name="block-0">
            <a:extLst xmlns:a="http://schemas.openxmlformats.org/drawingml/2006/main">
              <a:ext uri="{FF2B5EF4-FFF2-40B4-BE49-F238E27FC236}">
                <a16:creationId xmlns:a16="http://schemas.microsoft.com/office/drawing/2014/main" id="{D5742FE2-75BE-411E-BD57-188189A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E9EDF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9E2919-D03F-4EEE-AEEE-075C6B4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thinking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80B94A-862F-4934-BF6C-8E4A8B8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95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内部思考</a:t>
            </a:r>
          </a:p>
        </p:txBody>
      </p:sp>
      <p:sp>
        <p:nvSpPr>
          <p:cNvPr id="9" name="block-1">
            <a:extLst xmlns:a="http://schemas.openxmlformats.org/drawingml/2006/main">
              <a:ext uri="{FF2B5EF4-FFF2-40B4-BE49-F238E27FC236}">
                <a16:creationId xmlns:a16="http://schemas.microsoft.com/office/drawing/2014/main" id="{43E75F06-025C-4776-BAFB-EB5C94B9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DFF1F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431432-228C-4141-BD93-8AA76594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46CE53-3F1F-4C1A-811B-C44EAF74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自然语言前言</a:t>
            </a:r>
          </a:p>
        </p:txBody>
      </p:sp>
      <p:sp>
        <p:nvSpPr>
          <p:cNvPr id="12" name="block-2">
            <a:extLst xmlns:a="http://schemas.openxmlformats.org/drawingml/2006/main">
              <a:ext uri="{FF2B5EF4-FFF2-40B4-BE49-F238E27FC236}">
                <a16:creationId xmlns:a16="http://schemas.microsoft.com/office/drawing/2014/main" id="{43C40B95-0296-4630-9F42-E6F7035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66BC53-4449-4D97-962A-C1B44A5B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59E0B"/>
                </a:solidFill>
                <a:latin typeface="Menlo"/>
                <a:ea typeface="Menlo"/>
                <a:cs typeface="Menlo"/>
              </a:rPr>
              <a:t>tool_use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7FBBF1C-C3E5-4B16-A22F-7EC92BDE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338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id · name · input</a:t>
            </a:r>
          </a:p>
        </p:txBody>
      </p:sp>
      <p:sp>
        <p:nvSpPr>
          <p:cNvPr id="15" name="block-3">
            <a:extLst xmlns:a="http://schemas.openxmlformats.org/drawingml/2006/main">
              <a:ext uri="{FF2B5EF4-FFF2-40B4-BE49-F238E27FC236}">
                <a16:creationId xmlns:a16="http://schemas.microsoft.com/office/drawing/2014/main" id="{8744673A-9E80-4BB4-8579-D0092A1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A7FC3E6-A0F8-43D8-8D25-018BB11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59E0B"/>
                </a:solidFill>
                <a:latin typeface="Menlo"/>
                <a:ea typeface="Menlo"/>
                <a:cs typeface="Menlo"/>
              </a:rPr>
              <a:t>tool_use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CC24362-14F7-4ACA-9055-ADF16D84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并行的第二个调用</a:t>
            </a:r>
          </a:p>
        </p:txBody>
      </p:sp>
      <p:sp>
        <p:nvSpPr>
          <p:cNvPr id="18" name="code-block">
            <a:extLst xmlns:a="http://schemas.openxmlformats.org/drawingml/2006/main">
              <a:ext uri="{FF2B5EF4-FFF2-40B4-BE49-F238E27FC236}">
                <a16:creationId xmlns:a16="http://schemas.microsoft.com/office/drawing/2014/main" id="{F5A461B6-8B06-4EBC-946B-F9741F9B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57912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9" name="code">
            <a:extLst xmlns:a="http://schemas.openxmlformats.org/drawingml/2006/main">
              <a:ext uri="{FF2B5EF4-FFF2-40B4-BE49-F238E27FC236}">
                <a16:creationId xmlns:a16="http://schemas.microsoft.com/office/drawing/2014/main" id="{FC0A9C43-165E-4465-8BFE-5ED048E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334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# ❌ 位置会漂移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tool = response.content[1]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# ✅ 按类型过滤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tool_uses = [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b for b in response.content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if b.type == "tool_use"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# ✅ 完整保存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messages.append({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"role": "assistant",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"content": response.content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1F9B372-9C32-43BE-B322-79C72EE2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62600"/>
            <a:ext cx="579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不要只存 text；否则下一轮找不到对应 tool_use。</a:t>
            </a:r>
          </a:p>
        </p:txBody>
      </p:sp>
      <p:cxnSp>
        <p:nvCxnSpPr>
          <p:cNvPr id="43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3A6291-07E7-4E40-95FC-82A676E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96634587c134ddd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462d5a9db3f427c"/>
              </a:rPr>
              <a:t>Anthropic · handle tool calls</a:t>
            </a:r>
          </a:p>
        </p:txBody>
      </p:sp>
    </p:spTree>
    <p:extLst>
      <p:ext uri="{BB962C8B-B14F-4D97-AF65-F5344CB8AC3E}">
        <p14:creationId xmlns:p14="http://schemas.microsoft.com/office/powerpoint/2010/main" val="1575051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label">
            <a:extLst xmlns:a="http://schemas.openxmlformats.org/drawingml/2006/main">
              <a:ext uri="{FF2B5EF4-FFF2-40B4-BE49-F238E27FC236}">
                <a16:creationId xmlns:a16="http://schemas.microsoft.com/office/drawing/2014/main" id="{2ABADB87-0274-44C6-BE05-1CD6650E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CONTROL FLOW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37E7ED8-7F33-4610-A233-FB6811D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stop_reason 是 agent loop 的状态机</a:t>
            </a:r>
          </a:p>
        </p:txBody>
      </p:sp>
      <p:cxnSp>
        <p:nvCxnSpPr>
          <p:cNvPr id="60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CC3A66-C504-426E-9D7D-D02F9CC0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request">
            <a:extLst xmlns:a="http://schemas.openxmlformats.org/drawingml/2006/main">
              <a:ext uri="{FF2B5EF4-FFF2-40B4-BE49-F238E27FC236}">
                <a16:creationId xmlns:a16="http://schemas.microsoft.com/office/drawing/2014/main" id="{5B299748-B88E-4E42-A88C-41D01D2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6954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4E081B-D050-4875-A1A9-F323171D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发起请求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6F2D2A-B18A-45C3-982F-3366EDB4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messages / tools</a:t>
            </a:r>
          </a:p>
        </p:txBody>
      </p:sp>
      <p:sp>
        <p:nvSpPr>
          <p:cNvPr id="8" name="check">
            <a:extLst xmlns:a="http://schemas.openxmlformats.org/drawingml/2006/main">
              <a:ext uri="{FF2B5EF4-FFF2-40B4-BE49-F238E27FC236}">
                <a16:creationId xmlns:a16="http://schemas.microsoft.com/office/drawing/2014/main" id="{21BDAB77-2EC7-4C2D-9EC6-D00AE2A5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2095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D0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6BAF2C-F6B8-4ED4-A1B4-E18ABC8B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检查 stop_reason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F253EE-68C0-418D-91BE-D9D2C8F1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先判断，再读 content</a:t>
            </a:r>
          </a:p>
        </p:txBody>
      </p:sp>
      <p:sp>
        <p:nvSpPr>
          <p:cNvPr id="11" name="tool-use">
            <a:extLst xmlns:a="http://schemas.openxmlformats.org/drawingml/2006/main">
              <a:ext uri="{FF2B5EF4-FFF2-40B4-BE49-F238E27FC236}">
                <a16:creationId xmlns:a16="http://schemas.microsoft.com/office/drawing/2014/main" id="{2B2191E6-D339-4235-B3FC-BFF5A453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20AC69-7103-4E16-A115-664D2F13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335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tool_use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97998F-529D-43D4-8B8E-0AA83FEB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执行并回填结果</a:t>
            </a:r>
          </a:p>
        </p:txBody>
      </p:sp>
      <p:sp>
        <p:nvSpPr>
          <p:cNvPr id="14" name="pause">
            <a:extLst xmlns:a="http://schemas.openxmlformats.org/drawingml/2006/main">
              <a:ext uri="{FF2B5EF4-FFF2-40B4-BE49-F238E27FC236}">
                <a16:creationId xmlns:a16="http://schemas.microsoft.com/office/drawing/2014/main" id="{A43881E4-BB8F-43D0-8196-75F3EFBE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D1909F9-4A22-4F80-9CDB-81100006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718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pause_turn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D5A10A-3C87-4577-A167-C596B7C1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528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原样重发；别加 Continue</a:t>
            </a:r>
          </a:p>
        </p:txBody>
      </p:sp>
      <p:sp>
        <p:nvSpPr>
          <p:cNvPr id="17" name="next-round">
            <a:extLst xmlns:a="http://schemas.openxmlformats.org/drawingml/2006/main">
              <a:ext uri="{FF2B5EF4-FFF2-40B4-BE49-F238E27FC236}">
                <a16:creationId xmlns:a16="http://schemas.microsoft.com/office/drawing/2014/main" id="{6EBB1ADC-C909-4569-8BF2-ACC0B328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6B0852E-60A1-4596-8BA3-6019C7E9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继续下一轮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1814406-971F-4320-8B39-05DD6D7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回到发起请求</a:t>
            </a:r>
          </a:p>
        </p:txBody>
      </p:sp>
      <p:sp>
        <p:nvSpPr>
          <p:cNvPr id="20" name="terminal">
            <a:extLst xmlns:a="http://schemas.openxmlformats.org/drawingml/2006/main">
              <a:ext uri="{FF2B5EF4-FFF2-40B4-BE49-F238E27FC236}">
                <a16:creationId xmlns:a16="http://schemas.microsoft.com/office/drawing/2014/main" id="{A92E98D5-938F-4207-B465-2EA63D5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576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14876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4C36B8-CDC3-4F68-94A4-844102FA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终止分支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2A6BB44-B521-4422-A251-D140FDF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end_turn · 截断</a:t>
            </a:r>
          </a:p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refusal · stop_sequence</a:t>
            </a:r>
          </a:p>
        </p:txBody>
      </p:sp>
      <p:sp>
        <p:nvSpPr>
          <p:cNvPr id="23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8CEBCD0A-90D5-4E33-9204-6CB13C4E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574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4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45FB54E8-0AE7-4B27-9BF3-E0265E0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5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9B8E4BF9-CCDE-4FBA-8952-3F7F20D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574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26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5A0DC6AE-31D6-4369-8147-1CEE997E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574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7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585140EF-96F8-48EB-8F82-188381C3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3835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8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27BC130B-4EE3-4250-A125-C984A42C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383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9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26B74664-50E8-449C-992F-50D8469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907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0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4CBA8378-C14A-4EA8-A59C-ACD6B069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383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1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24CE4D5B-18BD-4A8C-85D5-09422EBD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574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2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0FF8698C-9327-48E6-959D-80EEC95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574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3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9AB9DB3A-2047-4DF9-BF4E-2CF485E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766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4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C56C72BC-BD39-445B-96F6-A12DE420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289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5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E743BC90-669D-4BBB-A523-0C8EDA9A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766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36" name="diagram-arrow-v">
            <a:extLst xmlns:a="http://schemas.openxmlformats.org/drawingml/2006/main">
              <a:ext uri="{FF2B5EF4-FFF2-40B4-BE49-F238E27FC236}">
                <a16:creationId xmlns:a16="http://schemas.microsoft.com/office/drawing/2014/main" id="{FAA9E1CB-ED7F-4D09-8015-83E1BD58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6705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37" name="diagram-arrow-v-head-left">
            <a:extLst xmlns:a="http://schemas.openxmlformats.org/drawingml/2006/main">
              <a:ext uri="{FF2B5EF4-FFF2-40B4-BE49-F238E27FC236}">
                <a16:creationId xmlns:a16="http://schemas.microsoft.com/office/drawing/2014/main" id="{53CD0325-7966-456D-BD0B-9DC0161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981450"/>
            <a:ext cx="476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38" name="diagram-arrow-v-head-right">
            <a:extLst xmlns:a="http://schemas.openxmlformats.org/drawingml/2006/main">
              <a:ext uri="{FF2B5EF4-FFF2-40B4-BE49-F238E27FC236}">
                <a16:creationId xmlns:a16="http://schemas.microsoft.com/office/drawing/2014/main" id="{2270A438-E4DA-4CF8-B152-87B20929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81450"/>
            <a:ext cx="476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39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6CA4E435-587C-49BB-9F6E-6050625B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0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6AE8249F-6E61-484E-A2BF-1E6E5C1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38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1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32C23E1A-5014-4DC0-A59B-1A12219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2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192B0152-20E3-4AF3-9F30-5590409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146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3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ED089D14-608D-4533-888B-8329E791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4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F427323C-CBFF-4AA3-AC9B-08995CB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45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DF621244-D447-4387-AC23-572741FB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46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F6FBDCBF-B8CE-4AE2-9B08-CF6D77F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47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50D525F2-615E-4BC3-9775-AE88D1DC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146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48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29501D08-4814-4FEA-8F6D-7322B7CC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49" name="loop-back-v1">
            <a:extLst xmlns:a="http://schemas.openxmlformats.org/drawingml/2006/main">
              <a:ext uri="{FF2B5EF4-FFF2-40B4-BE49-F238E27FC236}">
                <a16:creationId xmlns:a16="http://schemas.microsoft.com/office/drawing/2014/main" id="{6F4F4ECB-1295-4ED6-9D72-65603A0F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906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0" name="loop-back-h">
            <a:extLst xmlns:a="http://schemas.openxmlformats.org/drawingml/2006/main">
              <a:ext uri="{FF2B5EF4-FFF2-40B4-BE49-F238E27FC236}">
                <a16:creationId xmlns:a16="http://schemas.microsoft.com/office/drawing/2014/main" id="{FE1C4230-848D-46C4-AB01-A500C02E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821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1" name="loop-back-v2">
            <a:extLst xmlns:a="http://schemas.openxmlformats.org/drawingml/2006/main">
              <a:ext uri="{FF2B5EF4-FFF2-40B4-BE49-F238E27FC236}">
                <a16:creationId xmlns:a16="http://schemas.microsoft.com/office/drawing/2014/main" id="{8973C87F-4C6F-4AA0-8073-2F11804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2" name="loop-back-v2-head-left">
            <a:extLst xmlns:a="http://schemas.openxmlformats.org/drawingml/2006/main">
              <a:ext uri="{FF2B5EF4-FFF2-40B4-BE49-F238E27FC236}">
                <a16:creationId xmlns:a16="http://schemas.microsoft.com/office/drawing/2014/main" id="{ECB2D21F-C34C-46CD-B7A8-5EF5EC4F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171700"/>
            <a:ext cx="476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3" name="loop-back-v2-head-right">
            <a:extLst xmlns:a="http://schemas.openxmlformats.org/drawingml/2006/main">
              <a:ext uri="{FF2B5EF4-FFF2-40B4-BE49-F238E27FC236}">
                <a16:creationId xmlns:a16="http://schemas.microsoft.com/office/drawing/2014/main" id="{4A115805-D002-4DAD-B6C2-DBFD6BD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71700"/>
            <a:ext cx="476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47BE2062-AB8D-455D-A129-C078D4B5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57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3D8DFF"/>
                </a:solidFill>
                <a:latin typeface="Menlo"/>
                <a:ea typeface="Menlo"/>
                <a:cs typeface="Menlo"/>
              </a:rPr>
              <a:t>tool_use / pause_turn → 继续循环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85D50D5B-0B48-460E-BAC7-4D61E7F8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所有循环都要设最大迭代次数；“不是 tool_use 就 break”已经不够。</a:t>
            </a:r>
          </a:p>
        </p:txBody>
      </p:sp>
      <p:cxnSp>
        <p:nvCxnSpPr>
          <p:cNvPr id="113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5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F20A344-2FEE-4185-A54E-B25C07E4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ed4b4d3a6074603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f9f6913efdd48dc"/>
              </a:rPr>
              <a:t>Anthropic · stop reasons</a:t>
            </a:r>
          </a:p>
        </p:txBody>
      </p:sp>
    </p:spTree>
    <p:extLst>
      <p:ext uri="{BB962C8B-B14F-4D97-AF65-F5344CB8AC3E}">
        <p14:creationId xmlns:p14="http://schemas.microsoft.com/office/powerpoint/2010/main" val="1222688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C581EC21-82CF-4F2C-8027-E74AB5C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RESULT CONTRACT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DDE740B-07C9-4784-BF92-2590967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tool_result 有三条会直接 400 的红线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A7CB3F-1C9D-408B-AD2C-8ED7982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ABD74C76-C155-4502-81B9-42D533C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FCE8E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4EB4BB-36AB-4E5A-AFAC-12A00491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CE53B2-BD65-40DB-83D7-89D24D9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必须排最前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7C98C0-3F4F-4C4F-BAE0-13C7ADB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同一条 user content 中，所有 tool_result 必须先于任何 text。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2680E8D1-2EEB-42A4-8B0E-338260E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FCE8E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17CF42-8AAD-4050-B0E7-66B3CC73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564D35-1846-46E0-BABF-2FB68DF9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95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必须紧邻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6270DA-22C3-4C03-8F55-16503AC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98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tool_result 消息必须紧跟对应的 assistant tool_use。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654BAFCE-916C-4B58-BEF6-CFEB488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FCE8E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4E3E389-AD33-4AE6-83D3-DCE206D1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6257FA-3E11-49F5-95BA-90EBA943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混合轮只放结果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564188-4EA6-4583-A3D2-B53488F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尚有 server tool 未完成时，user 消息只能包含 tool_result。</a:t>
            </a:r>
          </a:p>
        </p:txBody>
      </p:sp>
      <p:sp>
        <p:nvSpPr>
          <p:cNvPr id="17" name="code-block">
            <a:extLst xmlns:a="http://schemas.openxmlformats.org/drawingml/2006/main">
              <a:ext uri="{FF2B5EF4-FFF2-40B4-BE49-F238E27FC236}">
                <a16:creationId xmlns:a16="http://schemas.microsoft.com/office/drawing/2014/main" id="{E0A98A42-400E-4440-8FAF-2DDBC507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8" name="code">
            <a:extLst xmlns:a="http://schemas.openxmlformats.org/drawingml/2006/main">
              <a:ext uri="{FF2B5EF4-FFF2-40B4-BE49-F238E27FC236}">
                <a16:creationId xmlns:a16="http://schemas.microsoft.com/office/drawing/2014/main" id="{D0F447E3-90B6-4FD4-8121-5B6D364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{"role":"user","content":[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{"type":"tool_result","tool_use_id":"toolu_A","content":"..."},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{"type":"tool_result","tool_use_id":"toolu_B","content":"...","is_error":true}</a:t>
            </a:r>
          </a:p>
          <a:p xmlns:a="http://schemas.openxmlformats.org/drawingml/2006/main">
            <a:pPr algn="l">
              <a:defRPr sz="12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]}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CCBEC1F-DBE6-4D7C-A229-01472E00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每个 tool_use.id 都必须得到一个结果；失败也要回填。</a:t>
            </a:r>
          </a:p>
        </p:txBody>
      </p:sp>
      <p:cxnSp>
        <p:nvCxnSpPr>
          <p:cNvPr id="41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87DBFC-5AFD-4274-A966-0C71F3F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626fefea91c4150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dd1c01bd801450a"/>
              </a:rPr>
              <a:t>Anthropic · handle tool calls</a:t>
            </a:r>
          </a:p>
        </p:txBody>
      </p:sp>
    </p:spTree>
    <p:extLst>
      <p:ext uri="{BB962C8B-B14F-4D97-AF65-F5344CB8AC3E}">
        <p14:creationId xmlns:p14="http://schemas.microsoft.com/office/powerpoint/2010/main" val="15367703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label">
            <a:extLst xmlns:a="http://schemas.openxmlformats.org/drawingml/2006/main">
              <a:ext uri="{FF2B5EF4-FFF2-40B4-BE49-F238E27FC236}">
                <a16:creationId xmlns:a16="http://schemas.microsoft.com/office/drawing/2014/main" id="{65798DC8-8A65-4D58-9B4A-50CEBA4F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PARALLEL TOOL USE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BA7057CF-FB49-403D-B692-D132C6B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并行调用的结果必须一次性打包</a:t>
            </a:r>
          </a:p>
        </p:txBody>
      </p:sp>
      <p:cxnSp>
        <p:nvCxnSpPr>
          <p:cNvPr id="62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87701D-4DEE-4B27-BDE5-F699080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assistant">
            <a:extLst xmlns:a="http://schemas.openxmlformats.org/drawingml/2006/main">
              <a:ext uri="{FF2B5EF4-FFF2-40B4-BE49-F238E27FC236}">
                <a16:creationId xmlns:a16="http://schemas.microsoft.com/office/drawing/2014/main" id="{252E2301-C16D-40FB-A7AB-6FCCE05D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AF2AD8-4F21-4C7D-8C1B-E9C05B12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assistant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61EF3F-3A92-4751-8927-F52DEE28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tool_use A · B · C</a:t>
            </a:r>
          </a:p>
        </p:txBody>
      </p:sp>
      <p:sp>
        <p:nvSpPr>
          <p:cNvPr id="8" name="tool-a">
            <a:extLst xmlns:a="http://schemas.openxmlformats.org/drawingml/2006/main">
              <a:ext uri="{FF2B5EF4-FFF2-40B4-BE49-F238E27FC236}">
                <a16:creationId xmlns:a16="http://schemas.microsoft.com/office/drawing/2014/main" id="{0810C7B2-41B5-4D50-A6AC-7FA87E0B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478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962F1F-460A-4C11-9A33-819FD0BA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621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工具 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C2F63C-04E6-4819-8AA7-864C5B6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成功</a:t>
            </a:r>
          </a:p>
        </p:txBody>
      </p:sp>
      <p:sp>
        <p:nvSpPr>
          <p:cNvPr id="11" name="tool-b">
            <a:extLst xmlns:a="http://schemas.openxmlformats.org/drawingml/2006/main">
              <a:ext uri="{FF2B5EF4-FFF2-40B4-BE49-F238E27FC236}">
                <a16:creationId xmlns:a16="http://schemas.microsoft.com/office/drawing/2014/main" id="{4F744741-5CCD-4E1B-BF80-27E9500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E5F508-3ACB-4DA1-B769-C39521F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工具 B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08C595-F546-4553-887D-9AC2118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失败也要回填</a:t>
            </a:r>
          </a:p>
        </p:txBody>
      </p:sp>
      <p:sp>
        <p:nvSpPr>
          <p:cNvPr id="14" name="tool-c">
            <a:extLst xmlns:a="http://schemas.openxmlformats.org/drawingml/2006/main">
              <a:ext uri="{FF2B5EF4-FFF2-40B4-BE49-F238E27FC236}">
                <a16:creationId xmlns:a16="http://schemas.microsoft.com/office/drawing/2014/main" id="{0F7BA7D4-6C7A-4E3C-894F-27AAB2C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78231F-7897-44BD-AA59-8337465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243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工具 C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346013-E7A7-4F95-8586-20A4F4B6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成功</a:t>
            </a:r>
          </a:p>
        </p:txBody>
      </p:sp>
      <p:sp>
        <p:nvSpPr>
          <p:cNvPr id="17" name="pack">
            <a:extLst xmlns:a="http://schemas.openxmlformats.org/drawingml/2006/main">
              <a:ext uri="{FF2B5EF4-FFF2-40B4-BE49-F238E27FC236}">
                <a16:creationId xmlns:a16="http://schemas.microsoft.com/office/drawing/2014/main" id="{C2D50568-33AC-4866-8E63-E197E92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2343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148765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E63EF61-2CB0-4DE9-9698-EF67A80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62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同一条 user 消息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BEEF7B-B7FF-4D89-842C-305156D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[tool_result A,</a:t>
            </a:r>
          </a:p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tool_result B,</a:t>
            </a:r>
          </a:p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tool_result C]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53368637-B71E-424D-8F65-8BFE9FF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D1740C-351E-4957-B8E7-B746431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432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下一轮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47B8903-7A79-4939-96BB-34B3F270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2420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messages + tools</a:t>
            </a:r>
          </a:p>
        </p:txBody>
      </p:sp>
      <p:sp>
        <p:nvSpPr>
          <p:cNvPr id="23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840B6F04-3115-4E47-9B10-5FC9BB3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5277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85A43E0C-3E00-45C9-8AC3-8C6CC00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38325"/>
            <a:ext cx="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5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B4C75B76-22DF-4E59-B322-3C45027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3832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440CC199-5116-4428-9840-AFC5A7D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224D237C-D5BB-48BD-BCDD-4EB08CA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383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C310309C-FC9D-4EA9-8306-C51F41E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5277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78DA37E0-CA7A-40A2-A1F5-668AB8F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194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3FD40E8B-FC47-4FC1-936E-F75794D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1942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B10DBB59-6E5F-415D-9256-10C1BE1F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2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D5BD3871-93FC-480F-B186-1B506E4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194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3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26504D1E-4CEC-44D9-BBE5-913992A5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5277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4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0B4DEA9D-4914-494B-9BB3-5A31A50C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5277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5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DB0D3469-292E-41F5-9F3F-114C7474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0052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6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E808DA90-6631-4969-8C58-9F8D7C5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5290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7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D8F2D26D-D61F-4EAB-AF50-3112B4D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0052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8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FAEB2456-B31E-40CE-82A9-ED2BD92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38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39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E806673C-1DC1-4A92-BC2E-E9C049F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38325"/>
            <a:ext cx="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0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E06A8285-F900-453A-8315-7754C49D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1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77A17BBE-0AAE-4F06-A4DD-AC2A44E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2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478055BC-2950-46DD-AD6D-5A14029D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3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D19EBB8A-CDAB-4A20-895D-F1F23F61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19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4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35D35687-02E8-4FA6-A1E3-EA71D55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5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4F38F1E5-6456-426C-B650-53FFD3D5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6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C4B47CCE-3AE9-4C93-9E3C-51553B1F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7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B1C9DDBC-47C4-4442-85C8-E3B8E66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8" name="diagram-elbow-h1">
            <a:extLst xmlns:a="http://schemas.openxmlformats.org/drawingml/2006/main">
              <a:ext uri="{FF2B5EF4-FFF2-40B4-BE49-F238E27FC236}">
                <a16:creationId xmlns:a16="http://schemas.microsoft.com/office/drawing/2014/main" id="{ED2606F0-88F6-4BDB-830E-C971C8D5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005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49" name="diagram-elbow-v">
            <a:extLst xmlns:a="http://schemas.openxmlformats.org/drawingml/2006/main">
              <a:ext uri="{FF2B5EF4-FFF2-40B4-BE49-F238E27FC236}">
                <a16:creationId xmlns:a16="http://schemas.microsoft.com/office/drawing/2014/main" id="{3C0396EF-BD8C-4D3F-8D09-D7FABD8A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50" name="diagram-elbow-h2">
            <a:extLst xmlns:a="http://schemas.openxmlformats.org/drawingml/2006/main">
              <a:ext uri="{FF2B5EF4-FFF2-40B4-BE49-F238E27FC236}">
                <a16:creationId xmlns:a16="http://schemas.microsoft.com/office/drawing/2014/main" id="{DAE01783-5C4B-4EB1-9F60-73BC6FDE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51" name="diagram-elbow-h2-head-upper">
            <a:extLst xmlns:a="http://schemas.openxmlformats.org/drawingml/2006/main">
              <a:ext uri="{FF2B5EF4-FFF2-40B4-BE49-F238E27FC236}">
                <a16:creationId xmlns:a16="http://schemas.microsoft.com/office/drawing/2014/main" id="{151D9054-4D8E-4BF2-AB0F-632FCCB3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52" name="diagram-elbow-h2-head-lower">
            <a:extLst xmlns:a="http://schemas.openxmlformats.org/drawingml/2006/main">
              <a:ext uri="{FF2B5EF4-FFF2-40B4-BE49-F238E27FC236}">
                <a16:creationId xmlns:a16="http://schemas.microsoft.com/office/drawing/2014/main" id="{A87D1F69-26AD-44DA-A3B1-677BF85C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765"/>
            </a:solidFill>
            <a:prstDash val="solid"/>
          </a:ln>
        </p:spPr>
      </p:sp>
      <p:sp>
        <p:nvSpPr>
          <p:cNvPr id="53" name="diagram-arrow-h">
            <a:extLst xmlns:a="http://schemas.openxmlformats.org/drawingml/2006/main">
              <a:ext uri="{FF2B5EF4-FFF2-40B4-BE49-F238E27FC236}">
                <a16:creationId xmlns:a16="http://schemas.microsoft.com/office/drawing/2014/main" id="{B9277458-64F2-4D0D-9260-E15B0CFA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5277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54" name="diagram-arrow-h-head-upper">
            <a:extLst xmlns:a="http://schemas.openxmlformats.org/drawingml/2006/main">
              <a:ext uri="{FF2B5EF4-FFF2-40B4-BE49-F238E27FC236}">
                <a16:creationId xmlns:a16="http://schemas.microsoft.com/office/drawing/2014/main" id="{28A45263-3D38-4489-8BE1-5231506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5150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55" name="diagram-arrow-h-head-lower">
            <a:extLst xmlns:a="http://schemas.openxmlformats.org/drawingml/2006/main">
              <a:ext uri="{FF2B5EF4-FFF2-40B4-BE49-F238E27FC236}">
                <a16:creationId xmlns:a16="http://schemas.microsoft.com/office/drawing/2014/main" id="{ADD887BE-A409-4056-970E-40280E5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52775"/>
            <a:ext cx="762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0E"/>
            </a:solidFill>
            <a:prstDash val="solid"/>
          </a:ln>
        </p:spPr>
      </p:sp>
      <p:sp>
        <p:nvSpPr>
          <p:cNvPr id="56" name="parallel-warning">
            <a:extLst xmlns:a="http://schemas.openxmlformats.org/drawingml/2006/main">
              <a:ext uri="{FF2B5EF4-FFF2-40B4-BE49-F238E27FC236}">
                <a16:creationId xmlns:a16="http://schemas.microsoft.com/office/drawing/2014/main" id="{471769F2-702A-4685-8075-6CBF744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B1B4DAAD-0F6D-4E61-AABE-9B5FDAF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292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拆成多条 user 消息通常不报错，却会让模型以后减少并行调用。</a:t>
            </a:r>
          </a:p>
        </p:txBody>
      </p:sp>
      <p:cxnSp>
        <p:nvCxnSpPr>
          <p:cNvPr id="117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5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25ED261-4017-4F83-AF3D-0908D41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8ec035b0a2042b3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91ab7c4cb65424c"/>
              </a:rPr>
              <a:t>Anthropic · parallel tool use</a:t>
            </a:r>
          </a:p>
        </p:txBody>
      </p:sp>
    </p:spTree>
    <p:extLst>
      <p:ext uri="{BB962C8B-B14F-4D97-AF65-F5344CB8AC3E}">
        <p14:creationId xmlns:p14="http://schemas.microsoft.com/office/powerpoint/2010/main" val="1385823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abel">
            <a:extLst xmlns:a="http://schemas.openxmlformats.org/drawingml/2006/main">
              <a:ext uri="{FF2B5EF4-FFF2-40B4-BE49-F238E27FC236}">
                <a16:creationId xmlns:a16="http://schemas.microsoft.com/office/drawing/2014/main" id="{6C03B6C1-8151-483A-8AA7-29378AFA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CALL POLICY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DCA620C0-59E2-47C0-9B83-7C13141C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tool_choice 是请求级的调用策略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63AF1A-59C8-4B7D-9F0B-408B0940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choice-mental-model">
            <a:extLst xmlns:a="http://schemas.openxmlformats.org/drawingml/2006/main">
              <a:ext uri="{FF2B5EF4-FFF2-40B4-BE49-F238E27FC236}">
                <a16:creationId xmlns:a16="http://schemas.microsoft.com/office/drawing/2014/main" id="{5E0F25CF-02EB-41A8-9598-352B097C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F00FFA-AB56-4141-9762-42BBD5A5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36E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9636E"/>
                </a:solidFill>
                <a:latin typeface="Menlo"/>
                <a:ea typeface="Menlo"/>
                <a:cs typeface="Menlo"/>
              </a:rPr>
              <a:t>tools = 菜单   →   tool_choice = 选择策略   →   schema / strict = 参数格式   →   handler = 真正执行</a:t>
            </a:r>
          </a:p>
        </p:txBody>
      </p:sp>
      <p:sp>
        <p:nvSpPr>
          <p:cNvPr id="7" name="choice-0">
            <a:extLst xmlns:a="http://schemas.openxmlformats.org/drawingml/2006/main">
              <a:ext uri="{FF2B5EF4-FFF2-40B4-BE49-F238E27FC236}">
                <a16:creationId xmlns:a16="http://schemas.microsoft.com/office/drawing/2014/main" id="{80B99C64-53F9-4EE1-89B2-9767938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25717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1F3697-02C8-488C-9364-CE50A00F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auto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DD0A41-C16F-40CE-A8CD-B0F1DA85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可不调，也可调用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597AC3-3CC8-4136-8E46-C24131F0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传 tools 时默认</a:t>
            </a:r>
          </a:p>
        </p:txBody>
      </p:sp>
      <p:sp>
        <p:nvSpPr>
          <p:cNvPr id="11" name="choice-1">
            <a:extLst xmlns:a="http://schemas.openxmlformats.org/drawingml/2006/main">
              <a:ext uri="{FF2B5EF4-FFF2-40B4-BE49-F238E27FC236}">
                <a16:creationId xmlns:a16="http://schemas.microsoft.com/office/drawing/2014/main" id="{6F9AECEB-13B8-4891-8A2D-6F2EC0F1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38350"/>
            <a:ext cx="25717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94329A-507E-4559-A900-92B96D1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59E0B"/>
                </a:solidFill>
                <a:latin typeface="Menlo"/>
                <a:ea typeface="Menlo"/>
                <a:cs typeface="Menlo"/>
              </a:rPr>
              <a:t>any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0082D8-D0E6-4C05-8724-AD58EA69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必须选择某个工具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C421B22-D569-4BEC-9B84-8A8B7821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86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调用前无 text</a:t>
            </a:r>
          </a:p>
        </p:txBody>
      </p:sp>
      <p:sp>
        <p:nvSpPr>
          <p:cNvPr id="15" name="choice-2">
            <a:extLst xmlns:a="http://schemas.openxmlformats.org/drawingml/2006/main">
              <a:ext uri="{FF2B5EF4-FFF2-40B4-BE49-F238E27FC236}">
                <a16:creationId xmlns:a16="http://schemas.microsoft.com/office/drawing/2014/main" id="{9FEF88B3-3124-4B5A-8A66-32ABC35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717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CBD35E-C84E-4DAC-BBB8-4577D18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59E0B"/>
                </a:solidFill>
                <a:latin typeface="Menlo"/>
                <a:ea typeface="Menlo"/>
                <a:cs typeface="Menlo"/>
              </a:rPr>
              <a:t>tool + name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CE1CC18-E904-4668-A1E9-964085D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必须调用指定工具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39A018B-F1E7-4FF5-9B7C-1CBC010A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调用前无 text</a:t>
            </a:r>
          </a:p>
        </p:txBody>
      </p:sp>
      <p:sp>
        <p:nvSpPr>
          <p:cNvPr id="19" name="choice-3">
            <a:extLst xmlns:a="http://schemas.openxmlformats.org/drawingml/2006/main">
              <a:ext uri="{FF2B5EF4-FFF2-40B4-BE49-F238E27FC236}">
                <a16:creationId xmlns:a16="http://schemas.microsoft.com/office/drawing/2014/main" id="{BCED94E8-0E09-4AE5-A1D8-29C791ED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5717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07A5FE1-0869-4EFB-9A92-462A63AB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BCC4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B8BCC4"/>
                </a:solidFill>
                <a:latin typeface="Menlo"/>
                <a:ea typeface="Menlo"/>
                <a:cs typeface="Menlo"/>
              </a:rPr>
              <a:t>none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34B594F-F8F6-4955-B07C-F01526D9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禁止工具调用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B2F85C5-AE88-4DFE-995D-D1CBFC6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不传 tools 时默认</a:t>
            </a:r>
          </a:p>
        </p:txBody>
      </p:sp>
      <p:sp>
        <p:nvSpPr>
          <p:cNvPr id="23" name="choice-preamble-note">
            <a:extLst xmlns:a="http://schemas.openxmlformats.org/drawingml/2006/main">
              <a:ext uri="{FF2B5EF4-FFF2-40B4-BE49-F238E27FC236}">
                <a16:creationId xmlns:a16="http://schemas.microsoft.com/office/drawing/2014/main" id="{546BB926-10EF-4497-B894-371395D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1277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6743DA7-1041-482C-8383-DE73BE4D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876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8765"/>
                </a:solidFill>
                <a:latin typeface="PingFang SC"/>
                <a:ea typeface="PingFang SC"/>
                <a:cs typeface="PingFang SC"/>
              </a:rPr>
              <a:t>“调用前无 text”只影响 tool_use 之前；回填 tool_result 后，最终答案仍可正常输出。</a:t>
            </a:r>
          </a:p>
        </p:txBody>
      </p:sp>
      <p:sp>
        <p:nvSpPr>
          <p:cNvPr id="25" name="code-block">
            <a:extLst xmlns:a="http://schemas.openxmlformats.org/drawingml/2006/main">
              <a:ext uri="{FF2B5EF4-FFF2-40B4-BE49-F238E27FC236}">
                <a16:creationId xmlns:a16="http://schemas.microsoft.com/office/drawing/2014/main" id="{D6B6D304-781C-4DA6-9321-B8884BF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67300"/>
            <a:ext cx="7543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code">
            <a:extLst xmlns:a="http://schemas.openxmlformats.org/drawingml/2006/main">
              <a:ext uri="{FF2B5EF4-FFF2-40B4-BE49-F238E27FC236}">
                <a16:creationId xmlns:a16="http://schemas.microsoft.com/office/drawing/2014/main" id="{69A6748C-9F82-4EFD-814B-D0FF2571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57800"/>
            <a:ext cx="708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tool_choice={"type":"auto", "disable_parallel_tool_use": True}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1855F6F-05F0-4152-860D-A32B7673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auto：零或一个调用   ·   any / tool：恰好一个调用   ·   any + strict：一定调用且参数合规</a:t>
            </a:r>
          </a:p>
        </p:txBody>
      </p:sp>
      <p:cxnSp>
        <p:nvCxnSpPr>
          <p:cNvPr id="57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29F9E22-3C5A-4811-B82A-14DB3AC2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31ddaadd200455f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c06ebd01c474fdd"/>
              </a:rPr>
              <a:t>Anthropic · define tools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0968af469c84ca1"/>
              </a:rPr>
              <a:t>Anthropic · parallel tool use</a:t>
            </a:r>
          </a:p>
        </p:txBody>
      </p:sp>
    </p:spTree>
    <p:extLst>
      <p:ext uri="{BB962C8B-B14F-4D97-AF65-F5344CB8AC3E}">
        <p14:creationId xmlns:p14="http://schemas.microsoft.com/office/powerpoint/2010/main" val="1901473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DD54AFD6-091B-453B-B012-82977844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STRUCTURED INPUT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D856B420-07FE-40BA-A974-C28565F3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strict 收紧格式，但不替你做业务判断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6E5797-C811-44EB-95C7-6E54328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4C1BFE26-2A31-4298-90E3-ECD0114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197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9F576B-3424-46A1-9019-9F72E8A3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76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8765"/>
                </a:solidFill>
                <a:latin typeface="PingFang SC"/>
                <a:ea typeface="PingFang SC"/>
                <a:cs typeface="PingFang SC"/>
              </a:rPr>
              <a:t>它能保证的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856DE7-F2FC-4D22-B24F-00542437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8006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正常完成时匹配受支持的 schema 子集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必填字段、类型和多余字段受到约束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与 additionalProperties: false 配合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5F95A330-7432-429B-BBAC-51995D3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56769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EA8194-51F2-46D5-940F-C16BCF3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它不能保证的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CD1FFE-222A-4840-9F20-9707ECBA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257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refusal / max_tokens 等异常结束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minimum、maxLength 等不受支持约束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权限、库存、ticker 是否真实等业务语义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enum / const 大小写等边角行为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11466D-D1A4-4E29-8901-A665139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客户端校验不能省：模型输出仍是不可信输入。</a:t>
            </a:r>
          </a:p>
        </p:txBody>
      </p:sp>
      <p:cxnSp>
        <p:nvCxnSpPr>
          <p:cNvPr id="25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CB39502-DED1-4AD1-A669-7B75958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db81b507dd842ed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c4073612098483e"/>
              </a:rPr>
              <a:t>Anthropic · structured outputs</a:t>
            </a:r>
          </a:p>
        </p:txBody>
      </p:sp>
    </p:spTree>
    <p:extLst>
      <p:ext uri="{BB962C8B-B14F-4D97-AF65-F5344CB8AC3E}">
        <p14:creationId xmlns:p14="http://schemas.microsoft.com/office/powerpoint/2010/main" val="20281653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5A028DA2-2ADF-416C-9AB9-03901D4B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SCALING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BD296546-644E-42EB-9683-6DEAB781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工具越来越多时，先保护 context 和 cache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EB6AD2-7F6C-4BD4-B7CB-B794E676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55628F26-BE44-4E76-BB59-1FDB8680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333750" cy="33718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CD46D8-43CF-42AA-B227-0AF33ED7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B879F3-7F37-4C4E-83DA-366E6FD0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稳定前缀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2B6E33-ACAC-4C24-AE1D-3E415B64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9146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工具按 name 确定性排序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把 cache_control 放在稳定的非 deferred 前缀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用 cache_read_input_tokens 验证命中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08F6C1F9-562F-4860-A2A3-1CF9410D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3333750" cy="33718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DFF1F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82E367-2156-4880-B1F8-D27C162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478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817BBB6-8EE6-4F73-99C0-30C3CFF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098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按需发现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F16C87-3CA4-4988-B5A9-14CEF34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9146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tool search + defer_loading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避免几百个 schema 挤进 system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新增延迟工具不破坏已有缓存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6A4FEB75-45B3-43F9-ABBF-583D1D39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3333750" cy="33718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A7C388-7394-4CE7-B5D5-E819E7E1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5542C4-242D-4B7F-885A-228D476E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代码编排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CC87F91-1FDD-4383-9C58-D09CF75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9146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allowed_callers + PTC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把多步调用和中间结果留在沙箱代码里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只让最终结果进入模型 context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843B557-D9A0-4E85-BADD-6BC1DC1C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两条边界：defer_loading + cache_control 同工具会 400；allowed_callers 不是鉴权。</a:t>
            </a:r>
          </a:p>
        </p:txBody>
      </p:sp>
      <p:cxnSp>
        <p:nvCxnSpPr>
          <p:cNvPr id="37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848F855-17CC-496A-B290-14A8326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645acaa248d4e3a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93a360c51ec4756"/>
              </a:rPr>
              <a:t>Anthropic · tool search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229ab49a9b3453d"/>
              </a:rPr>
              <a:t>Anthropic · programmatic tool calling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f08040bd58a4a19"/>
              </a:rPr>
              <a:t>Anthropic · prompt caching</a:t>
            </a:r>
          </a:p>
        </p:txBody>
      </p:sp>
    </p:spTree>
    <p:extLst>
      <p:ext uri="{BB962C8B-B14F-4D97-AF65-F5344CB8AC3E}">
        <p14:creationId xmlns:p14="http://schemas.microsoft.com/office/powerpoint/2010/main" val="20800283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156440CE-04E0-41EA-B7EE-86BB8050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SERVER TOOLS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95769CF7-089D-4610-9A2D-5048D4C4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内置工具也分“谁执行”与“版本为何变化”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0779B7-16F1-4C10-B4BC-2B0D4728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2AC85E62-262B-4226-BFC5-BC37AA98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2578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029A107-2398-465E-AF8F-B45AFF99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Anthropic 执行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E3FD66-02DD-4134-AD05-87B31C8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838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web_search · web_fetch</a:t>
            </a:r>
          </a:p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code_execution · tool_search</a:t>
            </a:r>
          </a:p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advisor · MCP connector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BFDA329F-C8E4-409F-B8E1-E4697B7F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6388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DFF1F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9D6D35-19B6-4D8F-85DD-8BCA6BF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Anthropic 定义 schema，客户端执行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DC5E84-B4D9-46B5-BA83-74AEA275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5219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bash · text_editor · memory · computer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不要重复传 input_schema；执行与授权责任仍在你的应用。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95AAA85C-50AB-4438-B988-50CA133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_YYYYMMDD 后缀不总是“新版淘汰旧版”</a:t>
            </a:r>
          </a:p>
        </p:txBody>
      </p:sp>
      <p:sp>
        <p:nvSpPr>
          <p:cNvPr id="12" name="version-0">
            <a:extLst xmlns:a="http://schemas.openxmlformats.org/drawingml/2006/main">
              <a:ext uri="{FF2B5EF4-FFF2-40B4-BE49-F238E27FC236}">
                <a16:creationId xmlns:a16="http://schemas.microsoft.com/office/drawing/2014/main" id="{5C670201-09D4-4658-8C73-2317B9E7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257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08D89B0-1A97-4AD5-83E2-99DC7BBD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功能特征</a:t>
            </a:r>
          </a:p>
        </p:txBody>
      </p:sp>
      <p:sp>
        <p:nvSpPr>
          <p:cNvPr id="14" name="version-1">
            <a:extLst xmlns:a="http://schemas.openxmlformats.org/drawingml/2006/main">
              <a:ext uri="{FF2B5EF4-FFF2-40B4-BE49-F238E27FC236}">
                <a16:creationId xmlns:a16="http://schemas.microsoft.com/office/drawing/2014/main" id="{D44292D7-0465-4D28-9DAE-B2B764F2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257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3A9051-B4DB-42F3-AF9D-3D8D8E26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模型绑定</a:t>
            </a:r>
          </a:p>
        </p:txBody>
      </p:sp>
      <p:sp>
        <p:nvSpPr>
          <p:cNvPr id="16" name="version-2">
            <a:extLst xmlns:a="http://schemas.openxmlformats.org/drawingml/2006/main">
              <a:ext uri="{FF2B5EF4-FFF2-40B4-BE49-F238E27FC236}">
                <a16:creationId xmlns:a16="http://schemas.microsoft.com/office/drawing/2014/main" id="{1F56035A-0CFD-497F-A54A-C926D96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257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7EC78DC-DB01-423E-BD47-38C7F2F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并列变体</a:t>
            </a:r>
          </a:p>
        </p:txBody>
      </p:sp>
      <p:sp>
        <p:nvSpPr>
          <p:cNvPr id="18" name="version-3">
            <a:extLst xmlns:a="http://schemas.openxmlformats.org/drawingml/2006/main">
              <a:ext uri="{FF2B5EF4-FFF2-40B4-BE49-F238E27FC236}">
                <a16:creationId xmlns:a16="http://schemas.microsoft.com/office/drawing/2014/main" id="{923CE0F1-772A-44F3-9C18-3AF7E95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57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34783E-E640-47B5-BE24-A4C0754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真正旧版</a:t>
            </a:r>
          </a:p>
        </p:txBody>
      </p:sp>
      <p:cxnSp>
        <p:nvCxnSpPr>
          <p:cNvPr id="41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E29183B-E84A-4ED8-9FDE-82EEA39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2086e76eef34949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df45fb7e33640ab"/>
              </a:rPr>
              <a:t>Anthropic · tool reference</a:t>
            </a:r>
          </a:p>
        </p:txBody>
      </p:sp>
    </p:spTree>
    <p:extLst>
      <p:ext uri="{BB962C8B-B14F-4D97-AF65-F5344CB8AC3E}">
        <p14:creationId xmlns:p14="http://schemas.microsoft.com/office/powerpoint/2010/main" val="9560858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1522E302-2E7A-4E65-AC9B-1550710B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SDK TOOL RUNNER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0D951528-0E19-4CD7-A90D-C5A8252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生产可以用 Runner，但必须理解底层 loop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D8FDE8-E48E-4297-800D-35D761FB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F3D8243F-A656-4744-860C-9FD1505E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C4F881-345B-4702-96C5-1E830FB5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手写 loop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8D22CF-057B-4672-95F5-90B2958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838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完全控制消息、审批与自定义传输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能显式处理 pause_turn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需要自己维护 schema、路由、错误与迭代上限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DFEB0A93-3950-46DA-B3E2-1AC15F27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638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FF1FB"/>
          </a:solidFill>
          <a:ln xmlns:a="http://schemas.openxmlformats.org/drawingml/2006/main" w="9525">
            <a:solidFill>
              <a:srgbClr val="DFF1F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0323C14-4751-477E-B71E-30768962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Tool Runner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3D194C-0A54-4D5F-95C8-83C5C9DF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5219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从函数签名 / docstring 生成 schema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自动执行并回填客户端工具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• 目前是 beta；混用 server tools 要检查 pause_turn</a:t>
            </a:r>
          </a:p>
        </p:txBody>
      </p:sp>
      <p:sp>
        <p:nvSpPr>
          <p:cNvPr id="11" name="code-block">
            <a:extLst xmlns:a="http://schemas.openxmlformats.org/drawingml/2006/main">
              <a:ext uri="{FF2B5EF4-FFF2-40B4-BE49-F238E27FC236}">
                <a16:creationId xmlns:a16="http://schemas.microsoft.com/office/drawing/2014/main" id="{52962E5D-BD95-4B44-85B5-C8372526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2" name="code">
            <a:extLst xmlns:a="http://schemas.openxmlformats.org/drawingml/2006/main">
              <a:ext uri="{FF2B5EF4-FFF2-40B4-BE49-F238E27FC236}">
                <a16:creationId xmlns:a16="http://schemas.microsoft.com/office/drawing/2014/main" id="{3862A7E3-2DE6-4E57-8348-83C9484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143500"/>
            <a:ext cx="7734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runner = client.beta.messages.tool_runner(</a:t>
            </a:r>
          </a:p>
          <a:p xmlns:a="http://schemas.openxmlformats.org/drawingml/2006/main">
            <a:pPr algn="l">
              <a:defRPr sz="9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model="claude-opus-5",</a:t>
            </a:r>
          </a:p>
          <a:p xmlns:a="http://schemas.openxmlformats.org/drawingml/2006/main">
            <a:pPr algn="l">
              <a:defRPr sz="9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max_tokens=16000,</a:t>
            </a:r>
          </a:p>
          <a:p xmlns:a="http://schemas.openxmlformats.org/drawingml/2006/main">
            <a:pPr algn="l">
              <a:defRPr sz="9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max_iterations=10,</a:t>
            </a:r>
          </a:p>
          <a:p xmlns:a="http://schemas.openxmlformats.org/drawingml/2006/main">
            <a:pPr algn="l">
              <a:defRPr sz="975" b="0">
                <a:solidFill>
                  <a:srgbClr val="E5EEF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EF8"/>
                </a:solidFill>
                <a:latin typeface="Menlo"/>
                <a:ea typeface="Menlo"/>
                <a:cs typeface="Menlo"/>
              </a:rPr>
              <a:t>    tools=[get_weather], messages=messages)</a:t>
            </a:r>
          </a:p>
        </p:txBody>
      </p:sp>
      <p:cxnSp>
        <p:nvCxnSpPr>
          <p:cNvPr id="27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EA72936-6E39-4C13-915B-B1C7797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41fc9b36053476f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a6f8f75046b43f2"/>
              </a:rPr>
              <a:t>Anthropic · tool runner</a:t>
            </a:r>
          </a:p>
        </p:txBody>
      </p:sp>
    </p:spTree>
    <p:extLst>
      <p:ext uri="{BB962C8B-B14F-4D97-AF65-F5344CB8AC3E}">
        <p14:creationId xmlns:p14="http://schemas.microsoft.com/office/powerpoint/2010/main" val="1503450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93FFB706-CB7C-4D57-A442-BDE6FA2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SECURITY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FC566C1D-A37C-4B8A-A8D9-72714E34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工具边界不是信任边界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028A0C-CB81-4870-BFE0-F72A717B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risk-0">
            <a:extLst xmlns:a="http://schemas.openxmlformats.org/drawingml/2006/main">
              <a:ext uri="{FF2B5EF4-FFF2-40B4-BE49-F238E27FC236}">
                <a16:creationId xmlns:a16="http://schemas.microsoft.com/office/drawing/2014/main" id="{12AF433E-F0DA-42FB-BA3C-77FE253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714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DFCA74-9EE4-4F6E-9A0E-818E560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模型生成的 tool input</a:t>
            </a:r>
          </a:p>
        </p:txBody>
      </p:sp>
      <p:sp>
        <p:nvSpPr>
          <p:cNvPr id="7" name="control-0">
            <a:extLst xmlns:a="http://schemas.openxmlformats.org/drawingml/2006/main">
              <a:ext uri="{FF2B5EF4-FFF2-40B4-BE49-F238E27FC236}">
                <a16:creationId xmlns:a16="http://schemas.microsoft.com/office/drawing/2014/main" id="{39B97C3D-60B4-4131-B9C2-CC94BD1C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81150"/>
            <a:ext cx="6762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A736C8-E3C2-425C-866B-26D1C97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626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7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765"/>
                </a:solidFill>
                <a:latin typeface="PingFang SC"/>
                <a:ea typeface="PingFang SC"/>
                <a:cs typeface="PingFang SC"/>
              </a:rPr>
              <a:t>类型校验 · 权限检查 · allowlist · sandbox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4171950" y="20955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risk-1">
            <a:extLst xmlns:a="http://schemas.openxmlformats.org/drawingml/2006/main">
              <a:ext uri="{FF2B5EF4-FFF2-40B4-BE49-F238E27FC236}">
                <a16:creationId xmlns:a16="http://schemas.microsoft.com/office/drawing/2014/main" id="{6D6FB9E9-2A37-4582-B49A-B15EA267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714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2A923E2-ECE2-45B9-84AB-71E02C8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网页、邮件与 API 的结果</a:t>
            </a:r>
          </a:p>
        </p:txBody>
      </p:sp>
      <p:sp>
        <p:nvSpPr>
          <p:cNvPr id="12" name="control-1">
            <a:extLst xmlns:a="http://schemas.openxmlformats.org/drawingml/2006/main">
              <a:ext uri="{FF2B5EF4-FFF2-40B4-BE49-F238E27FC236}">
                <a16:creationId xmlns:a16="http://schemas.microsoft.com/office/drawing/2014/main" id="{C111C869-CF71-4CFC-BB3C-4ED60052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71800"/>
            <a:ext cx="6762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85A248-DBFF-473E-9851-B5AB1788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626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7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765"/>
                </a:solidFill>
                <a:latin typeface="PingFang SC"/>
                <a:ea typeface="PingFang SC"/>
                <a:cs typeface="PingFang SC"/>
              </a:rPr>
              <a:t>只放 tool_result · 防间接 prompt injection</a:t>
            </a:r>
          </a:p>
        </p:txBody>
      </p:sp>
      <p:cxnSp>
        <p:nvCxnSpPr>
          <p:cNvPr id="36" name="rule"/>
          <p:cNvCxnSpPr/>
          <p:nvPr/>
        </p:nvCxnSpPr>
        <p:spPr>
          <a:xfrm xmlns:a="http://schemas.openxmlformats.org/drawingml/2006/main">
            <a:off x="4171950" y="34861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5" name="risk-2">
            <a:extLst xmlns:a="http://schemas.openxmlformats.org/drawingml/2006/main">
              <a:ext uri="{FF2B5EF4-FFF2-40B4-BE49-F238E27FC236}">
                <a16:creationId xmlns:a16="http://schemas.microsoft.com/office/drawing/2014/main" id="{5DCF8BA4-8FBD-4EE7-862E-D448D9A1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714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05452D-CCA7-48E1-9670-2E2F19A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有副作用的执行动作</a:t>
            </a:r>
          </a:p>
        </p:txBody>
      </p:sp>
      <p:sp>
        <p:nvSpPr>
          <p:cNvPr id="17" name="control-2">
            <a:extLst xmlns:a="http://schemas.openxmlformats.org/drawingml/2006/main">
              <a:ext uri="{FF2B5EF4-FFF2-40B4-BE49-F238E27FC236}">
                <a16:creationId xmlns:a16="http://schemas.microsoft.com/office/drawing/2014/main" id="{0E9952F4-F6D3-4DDA-BB91-E1AAC2F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6762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5575F7-20CC-42AD-A297-2C2FE88C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48200"/>
            <a:ext cx="626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7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765"/>
                </a:solidFill>
                <a:latin typeface="PingFang SC"/>
                <a:ea typeface="PingFang SC"/>
                <a:cs typeface="PingFang SC"/>
              </a:rPr>
              <a:t>人工审批 · 最小权限 · 超时 · 审计日志</a:t>
            </a:r>
          </a:p>
        </p:txBody>
      </p:sp>
      <p:cxnSp>
        <p:nvCxnSpPr>
          <p:cNvPr id="41" name="rule"/>
          <p:cNvCxnSpPr/>
          <p:nvPr/>
        </p:nvCxnSpPr>
        <p:spPr>
          <a:xfrm xmlns:a="http://schemas.openxmlformats.org/drawingml/2006/main">
            <a:off x="4171950" y="48768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0BDFBD-A1D2-4362-BC15-C81B725B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allowed_callers 只是模型引导，不是 API 层的 hard block。</a:t>
            </a:r>
          </a:p>
        </p:txBody>
      </p:sp>
      <p:cxnSp>
        <p:nvCxnSpPr>
          <p:cNvPr id="43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EFD6061-5B5E-431F-8849-8823ADAC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3bfcc086f4c4aa3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5b289c9cc6e4f3d"/>
              </a:rPr>
              <a:t>Anthropic · programmatic tool calling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197928173f240f4"/>
              </a:rPr>
              <a:t>Anthropic · tool-use overview</a:t>
            </a:r>
          </a:p>
        </p:txBody>
      </p:sp>
    </p:spTree>
    <p:extLst>
      <p:ext uri="{BB962C8B-B14F-4D97-AF65-F5344CB8AC3E}">
        <p14:creationId xmlns:p14="http://schemas.microsoft.com/office/powerpoint/2010/main" val="20846742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abel">
            <a:extLst xmlns:a="http://schemas.openxmlformats.org/drawingml/2006/main">
              <a:ext uri="{FF2B5EF4-FFF2-40B4-BE49-F238E27FC236}">
                <a16:creationId xmlns:a16="http://schemas.microsoft.com/office/drawing/2014/main" id="{13EBA150-399F-4D0E-9D3A-9C59A102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VERSION DRIFT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A324DFC5-8558-4DBA-9212-663BD56A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迁移检查：把六个旧点一次扫完</a:t>
            </a:r>
          </a:p>
        </p:txBody>
      </p:sp>
      <p:cxnSp>
        <p:nvCxnSpPr>
          <p:cNvPr id="34" name="rule"/>
          <p:cNvCxnSpPr/>
          <p:nvPr/>
        </p:nvCxn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6D7304-761E-479D-8106-7CEF24FA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migration-0">
            <a:extLst xmlns:a="http://schemas.openxmlformats.org/drawingml/2006/main">
              <a:ext uri="{FF2B5EF4-FFF2-40B4-BE49-F238E27FC236}">
                <a16:creationId xmlns:a16="http://schemas.microsoft.com/office/drawing/2014/main" id="{45D7E78B-DB93-4B49-ADFD-96EF729A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C754A3-1E60-453D-BB2D-0EB74C5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E60BB7E-C84B-498A-A17B-7133206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temperature/top_p/top_k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75B466-BC3E-436B-AB4C-AC7E9383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→ 删除非默认采样参数</a:t>
            </a:r>
          </a:p>
        </p:txBody>
      </p:sp>
      <p:sp>
        <p:nvSpPr>
          <p:cNvPr id="9" name="migration-1">
            <a:extLst xmlns:a="http://schemas.openxmlformats.org/drawingml/2006/main">
              <a:ext uri="{FF2B5EF4-FFF2-40B4-BE49-F238E27FC236}">
                <a16:creationId xmlns:a16="http://schemas.microsoft.com/office/drawing/2014/main" id="{53271F55-2EA1-432C-A389-37547CF2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70A7CF-18D0-45C4-A628-50486BB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7027C7-6D22-46B6-9747-1D96DFF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335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response.content[1]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E88342-9E03-439D-8EBF-D1E0FFD7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→ 按 block.type 过滤</a:t>
            </a:r>
          </a:p>
        </p:txBody>
      </p:sp>
      <p:sp>
        <p:nvSpPr>
          <p:cNvPr id="13" name="migration-2">
            <a:extLst xmlns:a="http://schemas.openxmlformats.org/drawingml/2006/main">
              <a:ext uri="{FF2B5EF4-FFF2-40B4-BE49-F238E27FC236}">
                <a16:creationId xmlns:a16="http://schemas.microsoft.com/office/drawing/2014/main" id="{B8385382-9069-4E99-9E86-6FABDC8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DE777FA-977D-428B-86B2-0AF7897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4A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24A4A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8B8B506-AA9A-4D72-B896-2E1028AC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!= tool_use 就退出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4D98C4-DD81-465A-B094-4885F34F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→ 显式处理全部 stop_reason</a:t>
            </a:r>
          </a:p>
        </p:txBody>
      </p:sp>
      <p:sp>
        <p:nvSpPr>
          <p:cNvPr id="17" name="migration-3">
            <a:extLst xmlns:a="http://schemas.openxmlformats.org/drawingml/2006/main">
              <a:ext uri="{FF2B5EF4-FFF2-40B4-BE49-F238E27FC236}">
                <a16:creationId xmlns:a16="http://schemas.microsoft.com/office/drawing/2014/main" id="{A97467CE-85A9-4343-84A7-B573D066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14FFBC-3959-4BC9-9FAE-74B01B13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3A91A83-14BF-455A-8361-15F252B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text_editor 旧 type/name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E570A08-2B65-4BF5-B842-BE77AD0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→ 按模型成对升级</a:t>
            </a:r>
          </a:p>
        </p:txBody>
      </p:sp>
      <p:sp>
        <p:nvSpPr>
          <p:cNvPr id="21" name="migration-4">
            <a:extLst xmlns:a="http://schemas.openxmlformats.org/drawingml/2006/main">
              <a:ext uri="{FF2B5EF4-FFF2-40B4-BE49-F238E27FC236}">
                <a16:creationId xmlns:a16="http://schemas.microsoft.com/office/drawing/2014/main" id="{99CDB926-9CB0-49E0-9E21-A4FD7A28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CD773F-77C1-4ED4-9678-03BE0EAE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1692725-5135-4276-9960-86148950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undo_edit handler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7EE6E2C-49E5-4AD8-92F1-DD81DE5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→ 移除；新版不支持</a:t>
            </a:r>
          </a:p>
        </p:txBody>
      </p:sp>
      <p:sp>
        <p:nvSpPr>
          <p:cNvPr id="25" name="migration-5">
            <a:extLst xmlns:a="http://schemas.openxmlformats.org/drawingml/2006/main">
              <a:ext uri="{FF2B5EF4-FFF2-40B4-BE49-F238E27FC236}">
                <a16:creationId xmlns:a16="http://schemas.microsoft.com/office/drawing/2014/main" id="{885F7DEA-4BC6-43AC-AE04-76950076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1F2F3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82DED2E-4D1C-4D5D-8756-DE5A50A7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A65858D-43D9-4FE8-A250-5FB1BDD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0E"/>
                </a:solidFill>
                <a:latin typeface="Menlo"/>
                <a:ea typeface="Menlo"/>
                <a:cs typeface="Menlo"/>
              </a:rPr>
              <a:t>fine_grained beta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C973F47-627A-40A1-A566-B8A4B63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33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→ eager_input_streaming: true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AEB5A93-0E20-4728-AFDD-E52D3E42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再补两项：所有 loop 设 MAX_ITERATIONS；max_tokens 按任务与 eval 标定。</a:t>
            </a:r>
          </a:p>
        </p:txBody>
      </p:sp>
      <p:cxnSp>
        <p:nvCxnSpPr>
          <p:cNvPr id="61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3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88C0F26-FD3E-4C7D-B3DA-2460F61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9199af7a5b84079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1504205b8604e97"/>
              </a:rPr>
              <a:t>Anthropic · migration guide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edd4091a1e64449"/>
              </a:rPr>
              <a:t>Anthropic · tool reference</a:t>
            </a:r>
          </a:p>
        </p:txBody>
      </p:sp>
    </p:spTree>
    <p:extLst>
      <p:ext uri="{BB962C8B-B14F-4D97-AF65-F5344CB8AC3E}">
        <p14:creationId xmlns:p14="http://schemas.microsoft.com/office/powerpoint/2010/main" val="12003596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F1D0F3F5-1789-4643-A7FE-733A4AA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RELIABLE AGENT LOOP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50C9E3A-A302-4767-9DF8-CAE8253C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572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把模型当 planner，</a:t>
            </a:r>
          </a:p>
          <a:p xmlns:a="http://schemas.openxmlformats.org/drawingml/2006/main">
            <a:pPr algn="l">
              <a:defRPr sz="4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把工具边界当 trust boundary。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4CBC0E-2AFB-4F4E-A1CB-CCF38FF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完整历史  ·  按类型过滤  ·  结果严格配对  ·  显式状态机  ·  审批与迭代上限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5772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F4C927-733F-4E77-9D7E-1B79BC9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0E"/>
                </a:solidFill>
                <a:latin typeface="PingFang SC"/>
                <a:ea typeface="PingFang SC"/>
                <a:cs typeface="PingFang SC"/>
              </a:rPr>
              <a:t>Tool Use 的可靠性，来自协议纪律，而不是 prompt 运气。</a:t>
            </a:r>
          </a:p>
        </p:txBody>
      </p:sp>
      <p:cxnSp>
        <p:nvCxnSpPr>
          <p:cNvPr id="13" name="source-rule"/>
          <p:cNvCxnSpPr/>
          <p:nvPr/>
        </p:nvCxnSpPr>
        <p:spPr>
          <a:xfrm xmlns:a="http://schemas.openxmlformats.org/drawingml/2006/main">
            <a:off x="457200" y="61341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FA3E545-3341-4CF6-9095-D219DE5E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074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SOURCE ·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6e166e1b4b64fc1"/>
              </a:rPr>
              <a:t>GitHub · Tool_Use_Study_Notes.md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6e16b5f13034605"/>
              </a:rPr>
              <a:t>Anthropic · tool-use overview</a:t>
            </a:r>
            <a:r>
              <a:rPr sz="750" b="0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  ·  </a:t>
            </a:r>
            <a:r>
              <a:rPr sz="750" b="0" u="sng">
                <a:solidFill>
                  <a:srgbClr val="3D8DFF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d8b23c23a7f4374"/>
              </a:rPr>
              <a:t>Anthropic · handle tool calls</a:t>
            </a:r>
          </a:p>
        </p:txBody>
      </p:sp>
    </p:spTree>
    <p:extLst>
      <p:ext uri="{BB962C8B-B14F-4D97-AF65-F5344CB8AC3E}">
        <p14:creationId xmlns:p14="http://schemas.microsoft.com/office/powerpoint/2010/main" val="1010071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2026-08-02T22:56:51.5980000Z</dcterms:created>
  <dcterms:modified xsi:type="dcterms:W3CDTF">2026-08-02T22:56:51.5980000Z</dcterms:modified>
</coreProperties>
</file>